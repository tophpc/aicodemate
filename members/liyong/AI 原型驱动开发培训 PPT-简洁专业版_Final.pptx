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【演讲备注 - 游戏比喻】</a:t>
            </a:r>
          </a:p>
          <a:p>
            <a:r>
              <a:t>（此处建议配合动画使用，效果更佳）</a:t>
            </a:r>
          </a:p>
          <a:p/>
          <a:p>
            <a:r>
              <a:t>1. Prompt Engineering (2023): 就像玩《只狼》（动作游戏）。</a:t>
            </a:r>
          </a:p>
          <a:p>
            <a:r>
              <a:t>   每一招都得亲自按键，AI 动一下你回一下，全靠手速和微操。那时候模型笨，你不按对键它就死给你看。</a:t>
            </a:r>
          </a:p>
          <a:p/>
          <a:p>
            <a:r>
              <a:t>2. Context Engineering (2025): 就像玩《金铲铲》（自走棋）。</a:t>
            </a:r>
          </a:p>
          <a:p>
            <a:r>
              <a:t>   前期把英雄装备配好（喂够上下文/RAG），后面就自动跑。你虽然不微操了，但一旦遇到复杂局势，棋子容易乱打。</a:t>
            </a:r>
          </a:p>
          <a:p/>
          <a:p>
            <a:r>
              <a:t>3. Harness Engineering (2026-现在): 就像玩《全面战争》（即时战略）。</a:t>
            </a:r>
          </a:p>
          <a:p>
            <a:r>
              <a:t>   场上几千个单位（Agent）在跑，你根本管不过来每一个兵。你只能靠编队、阵型、规则去驾驭整盘战局。</a:t>
            </a:r>
          </a:p>
          <a:p>
            <a:r>
              <a:t>   单位越聪明自主，你越得靠这套系统去约束！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286000"/>
            <a:ext cx="2743200" cy="508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8FAFC"/>
                </a:solidFill>
                <a:latin typeface="Microsoft YaHei"/>
              </a:defRPr>
            </a:pPr>
            <a:r>
              <a:t>AI Agent 团队架构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F0FF"/>
                </a:solidFill>
                <a:latin typeface="Microsoft YaHei"/>
              </a:defRPr>
            </a:pPr>
            <a:r>
              <a:t>Harness Engineering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内部技术培训 | 从跟 AI 聊天到管理工业级智能团队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01 | 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2148840"/>
            <a:ext cx="548640" cy="54864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2103120"/>
            <a:ext cx="8671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  <a:latin typeface="Microsoft YaHei"/>
              </a:defRPr>
            </a:pPr>
            <a:r>
              <a:t>AI 工程演进：从 Prompt 到 Harness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292608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880360"/>
            <a:ext cx="8671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  <a:latin typeface="Microsoft YaHei"/>
              </a:defRPr>
            </a:pPr>
            <a:r>
              <a:t>Harness 架构：解决什么问题 &amp; 核心优势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703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703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657600"/>
            <a:ext cx="8671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  <a:latin typeface="Microsoft YaHei"/>
              </a:defRPr>
            </a:pPr>
            <a:r>
              <a:t>1+5 架构全景图 (分层协作模型)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44805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434840"/>
            <a:ext cx="8671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  <a:latin typeface="Microsoft YaHei"/>
              </a:defRPr>
            </a:pPr>
            <a:r>
              <a:t>三大核心机制：验证、约束、进化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5257800"/>
            <a:ext cx="548640" cy="5486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257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5212080"/>
            <a:ext cx="8671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  <a:latin typeface="Microsoft YaHei"/>
              </a:defRPr>
            </a:pPr>
            <a:r>
              <a:t>实施路线图 &amp; 角色转变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02 | AI 工程演进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Microsoft YaHei"/>
              </a:defRPr>
            </a:pPr>
            <a:r>
              <a:t>为什么 Harness 是 10 倍效率的关键？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292608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73152" cy="3200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Prompt 工程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2918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核心: Prompt 工程</a:t>
            </a:r>
          </a:p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痛点: 结果不稳定，无法扩展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572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Microsoft YaHei"/>
              </a:defRPr>
            </a:pPr>
            <a:r>
              <a:t>典型：帮我写个函数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286000"/>
            <a:ext cx="292608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2286000"/>
            <a:ext cx="73152" cy="3200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Context 工程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2918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核心: Context 工程</a:t>
            </a:r>
          </a:p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痛点: 依然脆弱，难以维护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572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Microsoft YaHei"/>
              </a:defRPr>
            </a:pPr>
            <a:r>
              <a:t>典型：参考这些文件写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286000"/>
            <a:ext cx="292608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2286000"/>
            <a:ext cx="73152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Harness 工程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2918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核心: Harness 工程</a:t>
            </a:r>
          </a:p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痛点: 解法：约束、反馈、自动化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572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Microsoft YaHei"/>
              </a:defRPr>
            </a:pPr>
            <a:r>
              <a:t>典型：Agent，按规则干活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669280"/>
            <a:ext cx="9448495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6692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F0FF"/>
                </a:solidFill>
                <a:latin typeface="Microsoft YaHei"/>
              </a:defRPr>
            </a:pPr>
            <a:r>
              <a:t>比喻：模型是 CPU，Harness 是操作系统。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03 | 痛点 vs 解法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4389120" cy="4114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73152" cy="4114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246888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AI 不可控：经常脑补成功，交付结果不可靠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效率低下：人工反复确认，验证成本太高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知识孤岛：每次对话重新开始，经验不沉淀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扩展困难：增加功能需要重写所有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4389120" cy="4114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73152" cy="411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确定性验证：代码级检查，不凭感觉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自动化流转：主调度 + 5 专家，各司其职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仓库即大脑：Repo 是唯一的知识来源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持续进化：一人踩坑，全员免疫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04 | Harness 架构：从聊天到工业级控制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真实案例：老板说 帮我看看最近的销售数据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4389120" cy="201168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73152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28346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500">
                <a:solidFill>
                  <a:srgbClr val="F8FAFC"/>
                </a:solidFill>
                <a:latin typeface="Microsoft YaHei"/>
              </a:defRPr>
            </a:pPr>
            <a:r>
              <a:t>老板手动发 Excel 文件</a:t>
            </a:r>
          </a:p>
          <a:p>
            <a:pPr>
              <a:spcAft>
                <a:spcPts val="450"/>
              </a:spcAft>
              <a:defRPr sz="1500">
                <a:solidFill>
                  <a:srgbClr val="F8FAFC"/>
                </a:solidFill>
                <a:latin typeface="Microsoft YaHei"/>
              </a:defRPr>
            </a:pPr>
            <a:r>
              <a:t>老板手动复制结果到飞书</a:t>
            </a:r>
          </a:p>
          <a:p>
            <a:pPr>
              <a:spcAft>
                <a:spcPts val="450"/>
              </a:spcAft>
              <a:defRPr sz="1500">
                <a:solidFill>
                  <a:srgbClr val="F8FAFC"/>
                </a:solidFill>
                <a:latin typeface="Microsoft YaHei"/>
              </a:defRPr>
            </a:pPr>
            <a:r>
              <a:t>老板自己核对数据准确性</a:t>
            </a:r>
          </a:p>
          <a:p>
            <a:pPr>
              <a:spcAft>
                <a:spcPts val="450"/>
              </a:spcAft>
              <a:defRPr sz="1500">
                <a:solidFill>
                  <a:srgbClr val="F8FAFC"/>
                </a:solidFill>
                <a:latin typeface="Microsoft YaHei"/>
              </a:defRPr>
            </a:pPr>
            <a:r>
              <a:t>结果：AI 经常脑补成功，数据可能出错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4389120" cy="210312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4480560"/>
            <a:ext cx="73152" cy="2103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4937760"/>
            <a:ext cx="384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F8FAFC"/>
                </a:solidFill>
                <a:latin typeface="Microsoft YaHei"/>
              </a:defRPr>
            </a:pPr>
            <a:r>
              <a:t>Main 自动识别 -&gt; 路由给 Dataprocess</a:t>
            </a:r>
          </a:p>
          <a:p>
            <a:pPr>
              <a:spcAft>
                <a:spcPts val="420"/>
              </a:spcAft>
              <a:defRPr sz="1400">
                <a:solidFill>
                  <a:srgbClr val="F8FAFC"/>
                </a:solidFill>
                <a:latin typeface="Microsoft YaHei"/>
              </a:defRPr>
            </a:pPr>
            <a:r>
              <a:t>Dataprocess 读取 Excel + Schema 验证</a:t>
            </a:r>
          </a:p>
          <a:p>
            <a:pPr>
              <a:spcAft>
                <a:spcPts val="420"/>
              </a:spcAft>
              <a:defRPr sz="1400">
                <a:solidFill>
                  <a:srgbClr val="F8FAFC"/>
                </a:solidFill>
                <a:latin typeface="Microsoft YaHei"/>
              </a:defRPr>
            </a:pPr>
            <a:r>
              <a:t>运行 verify_schema.py 自动校验</a:t>
            </a:r>
          </a:p>
          <a:p>
            <a:pPr>
              <a:spcAft>
                <a:spcPts val="420"/>
              </a:spcAft>
              <a:defRPr sz="1400">
                <a:solidFill>
                  <a:srgbClr val="F8FAFC"/>
                </a:solidFill>
                <a:latin typeface="Microsoft YaHei"/>
              </a:defRPr>
            </a:pPr>
            <a:r>
              <a:t>Main 签收 -&gt; 自动推送飞书日报</a:t>
            </a:r>
          </a:p>
          <a:p>
            <a:pPr>
              <a:spcAft>
                <a:spcPts val="420"/>
              </a:spcAft>
              <a:defRPr sz="1400">
                <a:solidFill>
                  <a:srgbClr val="F8FAFC"/>
                </a:solidFill>
                <a:latin typeface="Microsoft YaHei"/>
              </a:defRPr>
            </a:pPr>
            <a:r>
              <a:t>零人工干预，100% 可追溯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数据流向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834640"/>
            <a:ext cx="4114800" cy="5486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icrosoft YaHei"/>
              </a:defRPr>
            </a:pPr>
            <a:r>
              <a:t>老板指令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79" y="2880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飞书/语音输入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229600" y="3383280"/>
            <a:ext cx="365760" cy="13716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3520440"/>
            <a:ext cx="4114800" cy="5486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0FF"/>
                </a:solidFill>
                <a:latin typeface="Microsoft YaHei"/>
              </a:defRPr>
            </a:pPr>
            <a:r>
              <a:t>Main 调度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79" y="3566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意图识别 -&gt; 路由分发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229600" y="4069080"/>
            <a:ext cx="365760" cy="137160"/>
          </a:xfrm>
          <a:prstGeom prst="down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4206240"/>
            <a:ext cx="4114800" cy="5486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0FF"/>
                </a:solidFill>
                <a:latin typeface="Microsoft YaHei"/>
              </a:defRPr>
            </a:pPr>
            <a:r>
              <a:t>5 专家并行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79" y="42519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各司其职执行任务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229600" y="4754880"/>
            <a:ext cx="365760" cy="137160"/>
          </a:xfrm>
          <a:prstGeom prst="down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4892040"/>
            <a:ext cx="4114800" cy="5486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验证层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79" y="4937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Schema + verify_schema.py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8229600" y="5440680"/>
            <a:ext cx="365760" cy="13716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5577840"/>
            <a:ext cx="4114800" cy="5486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5623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结果交付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79" y="56235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飞书/JSON/PPT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05 | 架构全景图：1+5 分层协作模型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48495" cy="109728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87451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Main 总调度中心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9202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意图识别 -&gt; 任务拆解 -&gt; 路由分派 -&gt; 验证签收 -&gt; 最终交付</a:t>
            </a:r>
          </a:p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接收老板指令，智能分发任务给对应专家，最终验证签收后交付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43600" y="2926080"/>
            <a:ext cx="457200" cy="274320"/>
          </a:xfrm>
          <a:prstGeom prst="down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3291840"/>
            <a:ext cx="1691640" cy="1645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429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F0FF"/>
                </a:solidFill>
                <a:latin typeface="Microsoft YaHei"/>
              </a:defRPr>
            </a:pPr>
            <a:r>
              <a:t>日程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31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Microsoft YaHei"/>
              </a:defRPr>
            </a:pPr>
            <a:r>
              <a:t>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343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日程/邮件/杂活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080260" y="4937760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6120" y="3291840"/>
            <a:ext cx="1691640" cy="1645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3429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F0FF"/>
                </a:solidFill>
                <a:latin typeface="Microsoft YaHei"/>
              </a:defRPr>
            </a:pPr>
            <a:r>
              <a:t>审查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931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Microsoft YaHei"/>
              </a:defRPr>
            </a:pPr>
            <a:r>
              <a:t>Code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343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架构/走读/审查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954780" y="4937760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3291840"/>
            <a:ext cx="1691640" cy="1645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3429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F0FF"/>
                </a:solidFill>
                <a:latin typeface="Microsoft YaHei"/>
              </a:defRPr>
            </a:pPr>
            <a:r>
              <a:t>日报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931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Microsoft YaHei"/>
              </a:defRPr>
            </a:pPr>
            <a:r>
              <a:t>Daily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343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资讯/简报/日报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829300" y="4937760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95160" y="3291840"/>
            <a:ext cx="1691640" cy="1645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3429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F0FF"/>
                </a:solidFill>
                <a:latin typeface="Microsoft YaHei"/>
              </a:defRPr>
            </a:pPr>
            <a:r>
              <a:t>研究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931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Microsoft YaHei"/>
              </a:defRPr>
            </a:pPr>
            <a:r>
              <a:t>Research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343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深挖/调研/方案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7703820" y="4937760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869680" y="3291840"/>
            <a:ext cx="1691640" cy="1645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3429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F0FF"/>
                </a:solidFill>
                <a:latin typeface="Microsoft YaHei"/>
              </a:defRPr>
            </a:pPr>
            <a:r>
              <a:t>数据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931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Microsoft YaHei"/>
              </a:defRPr>
            </a:pPr>
            <a:r>
              <a:t>Dataprocess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4343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报表/数据/建模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9578340" y="4937760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71600" y="5303520"/>
            <a:ext cx="9448495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303520"/>
            <a:ext cx="9448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1120"/>
                </a:solidFill>
                <a:latin typeface="Microsoft YaHei"/>
              </a:defRPr>
            </a:pPr>
            <a:r>
              <a:t>验证层 | 硬约束 Schema 拦截 | 无验证不交付 | 错题本持续进化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06 | 角色职责矩阵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828800"/>
          <a:ext cx="94183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3017520"/>
              </a:tblGrid>
              <a:tr h="6858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F0FF"/>
                          </a:solidFill>
                          <a:latin typeface="Microsoft YaHe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F0FF"/>
                          </a:solidFill>
                          <a:latin typeface="Microsoft YaHei"/>
                        </a:defRPr>
                      </a:pPr>
                      <a:r>
                        <a:t>核心职责 (Do's)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F0FF"/>
                          </a:solidFill>
                          <a:latin typeface="Microsoft YaHei"/>
                        </a:defRPr>
                      </a:pPr>
                      <a:r>
                        <a:t>绝对禁忌 (Don'ts)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Assistant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日程管理、邮件处理、日常杂活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深度技术、复杂数据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Code Review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架构建议、代码走读思路、审查策略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写生产代码、陷入细节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Daily Report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每日 AI/技术资讯抓取、简报生成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深度调研、处理私人数据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Research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垂直领域深挖 (POCT/嵌入式/Android)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处理 Excel、写业务代码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Dataprocess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报表生成、数据库建模、数据清洗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写业务代码、无验证交付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07 | 核心机制一：验证优先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Microsoft YaHei"/>
              </a:defRPr>
            </a:pPr>
            <a:r>
              <a:t>Iron Rule: 无代码验证，绝不交付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265176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执行任务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Agent 执行具体操作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144000" y="274320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3429000"/>
            <a:ext cx="548640" cy="54864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429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运行脚本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337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运行 verify_file.sh / schema.py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144000" y="352044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71600" y="42062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获取证据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拿到 JSON: status=success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144000" y="429768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71600" y="49834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983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892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交付结果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892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带着证据链汇报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08 | 核心机制二：硬约束 &gt; 软指令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Microsoft YaHei"/>
              </a:defRPr>
            </a:pPr>
            <a:r>
              <a:t>Application Legibility: 让数据对 Agent 可读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4389120" cy="22860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283464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0"/>
              </a:spcAft>
              <a:defRPr sz="1700">
                <a:solidFill>
                  <a:srgbClr val="F8FAFC"/>
                </a:solidFill>
                <a:latin typeface="Microsoft YaHei"/>
              </a:defRPr>
            </a:pPr>
            <a:r>
              <a:t>Prompt: 请注意格式正确</a:t>
            </a:r>
          </a:p>
          <a:p>
            <a:pPr>
              <a:spcAft>
                <a:spcPts val="510"/>
              </a:spcAft>
              <a:defRPr sz="1700">
                <a:solidFill>
                  <a:srgbClr val="F8FAFC"/>
                </a:solidFill>
                <a:latin typeface="Microsoft YaHei"/>
              </a:defRPr>
            </a:pPr>
            <a:r>
              <a:t>结果：Agent 经常忽略或幻觉</a:t>
            </a:r>
          </a:p>
          <a:p>
            <a:pPr>
              <a:spcAft>
                <a:spcPts val="510"/>
              </a:spcAft>
              <a:defRPr sz="1700">
                <a:solidFill>
                  <a:srgbClr val="F8FAFC"/>
                </a:solidFill>
                <a:latin typeface="Microsoft YaHei"/>
              </a:defRPr>
            </a:pPr>
            <a:r>
              <a:t>问题：LLM 天生发散，不擅长守规矩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286000"/>
            <a:ext cx="4389120" cy="22860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2286000"/>
            <a:ext cx="73152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83464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0"/>
              </a:spcAft>
              <a:defRPr sz="1700">
                <a:solidFill>
                  <a:srgbClr val="F8FAFC"/>
                </a:solidFill>
                <a:latin typeface="Microsoft YaHei"/>
              </a:defRPr>
            </a:pPr>
            <a:r>
              <a:t>Schema: schemas/report_output.json</a:t>
            </a:r>
          </a:p>
          <a:p>
            <a:pPr>
              <a:spcAft>
                <a:spcPts val="510"/>
              </a:spcAft>
              <a:defRPr sz="1700">
                <a:solidFill>
                  <a:srgbClr val="F8FAFC"/>
                </a:solidFill>
                <a:latin typeface="Microsoft YaHei"/>
              </a:defRPr>
            </a:pPr>
            <a:r>
              <a:t>工具: verify_schema.py 自动拦截</a:t>
            </a:r>
          </a:p>
          <a:p>
            <a:pPr>
              <a:spcAft>
                <a:spcPts val="510"/>
              </a:spcAft>
              <a:defRPr sz="1700">
                <a:solidFill>
                  <a:srgbClr val="F8FAFC"/>
                </a:solidFill>
                <a:latin typeface="Microsoft YaHei"/>
              </a:defRPr>
            </a:pPr>
            <a:r>
              <a:t>结果：不合规直接打回，无法蒙混过关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09 | 核心机制三：错题本与进化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48495" cy="10972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F0FF"/>
                </a:solidFill>
                <a:latin typeface="Microsoft YaHei"/>
              </a:defRPr>
            </a:pPr>
            <a:r>
              <a:t>每当 Agent 犯错，就工程化一个解决方案，让它再也不会犯同样的错。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560320"/>
            <a:ext cx="8991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-- Mitchell Hashimoto (Terraform 创始人)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200400"/>
            <a:ext cx="2103120" cy="1828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3200400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8FAFC"/>
                </a:solidFill>
                <a:latin typeface="Microsoft YaHei"/>
              </a:defRPr>
            </a:pPr>
            <a:r>
              <a:t>任务失败或被老板指出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3200400"/>
            <a:ext cx="2103120" cy="1828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03320" y="3200400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8FAFC"/>
                </a:solidFill>
                <a:latin typeface="Microsoft YaHei"/>
              </a:defRPr>
            </a:pPr>
            <a:r>
              <a:t>写入 LESSONS_LEARNED.md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200400"/>
            <a:ext cx="2103120" cy="1828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320040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8FAFC"/>
                </a:solidFill>
                <a:latin typeface="Microsoft YaHei"/>
              </a:defRPr>
            </a:pPr>
            <a:r>
              <a:t>全员启动时必读此文件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3200400"/>
            <a:ext cx="2103120" cy="1828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320040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8FAFC"/>
                </a:solidFill>
                <a:latin typeface="Microsoft YaHei"/>
              </a:defRPr>
            </a:pPr>
            <a:r>
              <a:t>系统长记性，越用越强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10 | 标准工作流 (SOP)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1737360" cy="22860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0" y="237744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Microsoft YaHei"/>
              </a:defRPr>
            </a:pPr>
            <a:r>
              <a:t>老板下达指令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566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意图 &amp; 目标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3200400"/>
            <a:ext cx="18288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91840" y="2286000"/>
            <a:ext cx="1737360" cy="22860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0" y="2377440"/>
            <a:ext cx="457200" cy="45720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Microsoft YaHei"/>
              </a:defRPr>
            </a:pPr>
            <a:r>
              <a:t>Main 调度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566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路由 &amp; 分派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29200" y="3200400"/>
            <a:ext cx="182880" cy="274320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12080" y="2286000"/>
            <a:ext cx="1737360" cy="22860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0" y="2377440"/>
            <a:ext cx="457200" cy="45720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Microsoft YaHei"/>
              </a:defRPr>
            </a:pPr>
            <a:r>
              <a:t>专家执行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566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干活 + 自检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949440" y="3200400"/>
            <a:ext cx="182880" cy="274320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0" y="2286000"/>
            <a:ext cx="1737360" cy="22860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0" y="23774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Microsoft YaHei"/>
              </a:defRPr>
            </a:pPr>
            <a:r>
              <a:t>Main 签收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566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验证证据链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69680" y="3200400"/>
            <a:ext cx="182880" cy="27432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52560" y="2286000"/>
            <a:ext cx="1737360" cy="22860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92640" y="23774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Microsoft YaHei"/>
              </a:defRPr>
            </a:pPr>
            <a:r>
              <a:t>飞书交付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566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结果推送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11 | 场景：数据处理实战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2743200" cy="18288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Excel/PDF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14800" y="2926080"/>
            <a:ext cx="45720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2286000"/>
            <a:ext cx="2743200" cy="18288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F0FF"/>
                </a:solidFill>
                <a:latin typeface="Microsoft YaHei"/>
              </a:defRPr>
            </a:pPr>
            <a:r>
              <a:t>处理 &amp; 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Schema Check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315200" y="2926080"/>
            <a:ext cx="457200" cy="274320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0" y="2286000"/>
            <a:ext cx="2743200" cy="18288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标准 JSON/Excel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572000"/>
            <a:ext cx="9448495" cy="10972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663440"/>
            <a:ext cx="8991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F0FF"/>
                </a:solidFill>
                <a:latin typeface="Microsoft YaHei"/>
              </a:defRPr>
            </a:pPr>
            <a:r>
              <a:t>核心价值：产出的数据不仅是给人看的，更是给其他 Agent 用的。机器可读，无缝流转。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12 | 场景：代码走读与审查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4389120" cy="36576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73152" cy="36576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246888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它不写生产代码，它只出主意。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关注点：逻辑闭环、架构风险、扩展性、团队规范。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典型任务：10 万行遗留代码怎么 Review？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4389120" cy="36576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73152" cy="3657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评审清单 (Checklist)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架构改进建议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SonarQube 扫描策略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技术债务优先级排序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13 | 实施路线图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283464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73152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Microsoft YaHei"/>
              </a:defRPr>
            </a:pPr>
            <a:r>
              <a:t>已落地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5 大专家 Agent 上线</a:t>
            </a:r>
          </a:p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验证优先机制落地</a:t>
            </a:r>
          </a:p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Harness 规则库建立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828800"/>
            <a:ext cx="283464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828800"/>
            <a:ext cx="73152" cy="3200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t>进行中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跨 Agent 自动化协作</a:t>
            </a:r>
          </a:p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研发到数据到报告自动流</a:t>
            </a:r>
          </a:p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定制化个人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828800"/>
            <a:ext cx="283464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960" y="1828800"/>
            <a:ext cx="73152" cy="32004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0FF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全自动驾驶模式</a:t>
            </a:r>
          </a:p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系统自我修复</a:t>
            </a:r>
          </a:p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研发效率 10 倍提升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Microsoft YaHei"/>
              </a:defRPr>
            </a:pPr>
            <a:r>
              <a:t>14 | 我们的角色转变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0FF"/>
                </a:solidFill>
                <a:latin typeface="Microsoft YaHei"/>
              </a:defRPr>
            </a:pPr>
            <a:r>
              <a:t>从写代码的人变成管理代码 AI 的人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5603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6974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以前：我们一行行写代码，我们是瓶颈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6974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现在：我们写规则、写约束、写验证脚本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4747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36118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以前：审查结果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6118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现在：审查过程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3891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4526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以前：个人英雄主义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3891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526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Microsoft YaHei"/>
              </a:defRPr>
            </a:pPr>
            <a:r>
              <a:t>现在：Harness 工程师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286000"/>
            <a:ext cx="2743200" cy="508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8FAFC"/>
                </a:solidFill>
                <a:latin typeface="Microsoft YaHei"/>
              </a:defRPr>
            </a:pPr>
            <a:r>
              <a:t>让我们用 AI 重新定义研发效率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0F0FF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Microsoft YaHei"/>
              </a:defRPr>
            </a:pPr>
            <a:r>
              <a:t>架构已就绪，随时开干！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AI Agent 团队架构</a:t>
            </a:r>
          </a:p>
          <a:p>
            <a:pPr>
              <a:spcAft>
                <a:spcPts val="600"/>
              </a:spcAft>
              <a:defRPr/>
            </a:pPr>
            <a:r>
              <a:t>Harness Engineering in Action</a:t>
            </a:r>
          </a:p>
          <a:p>
            <a:pPr>
              <a:spcAft>
                <a:spcPts val="600"/>
              </a:spcAft>
              <a:defRPr/>
            </a:pPr>
            <a:r>
              <a:t>内部技术培训 | 从跟 AI 聊天到管理工业级智能团队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01 | 目录</a:t>
            </a:r>
          </a:p>
          <a:p>
            <a:pPr>
              <a:spcAft>
                <a:spcPts val="600"/>
              </a:spcAft>
              <a:defRPr/>
            </a:pPr>
            <a:r>
              <a:t>01</a:t>
            </a:r>
          </a:p>
          <a:p>
            <a:pPr>
              <a:spcAft>
                <a:spcPts val="600"/>
              </a:spcAft>
              <a:defRPr/>
            </a:pPr>
            <a:r>
              <a:t>AI 工程演进：从 Prompt 到 Harness</a:t>
            </a:r>
          </a:p>
          <a:p>
            <a:pPr>
              <a:spcAft>
                <a:spcPts val="600"/>
              </a:spcAft>
              <a:defRPr/>
            </a:pPr>
            <a:r>
              <a:t>02</a:t>
            </a:r>
          </a:p>
          <a:p>
            <a:pPr>
              <a:spcAft>
                <a:spcPts val="600"/>
              </a:spcAft>
              <a:defRPr/>
            </a:pPr>
            <a:r>
              <a:t>Harness 架构：解决什么问题 &amp; 核心优势</a:t>
            </a:r>
          </a:p>
          <a:p>
            <a:pPr>
              <a:spcAft>
                <a:spcPts val="600"/>
              </a:spcAft>
              <a:defRPr/>
            </a:pPr>
            <a:r>
              <a:t>03</a:t>
            </a:r>
          </a:p>
          <a:p>
            <a:pPr>
              <a:spcAft>
                <a:spcPts val="600"/>
              </a:spcAft>
              <a:defRPr/>
            </a:pPr>
            <a:r>
              <a:t>1+5 架构全景图 (分层协作模型)</a:t>
            </a:r>
          </a:p>
          <a:p>
            <a:pPr>
              <a:spcAft>
                <a:spcPts val="600"/>
              </a:spcAft>
              <a:defRPr/>
            </a:pPr>
            <a:r>
              <a:t>04</a:t>
            </a:r>
          </a:p>
          <a:p>
            <a:pPr>
              <a:spcAft>
                <a:spcPts val="600"/>
              </a:spcAft>
              <a:defRPr/>
            </a:pPr>
            <a:r>
              <a:t>三大核心机制：验证、约束、进化</a:t>
            </a:r>
          </a:p>
          <a:p>
            <a:pPr>
              <a:spcAft>
                <a:spcPts val="600"/>
              </a:spcAft>
              <a:defRPr/>
            </a:pPr>
            <a:r>
              <a:t>05</a:t>
            </a:r>
          </a:p>
          <a:p>
            <a:pPr>
              <a:spcAft>
                <a:spcPts val="600"/>
              </a:spcAft>
              <a:defRPr/>
            </a:pPr>
            <a:r>
              <a:t>实施路线图 &amp; 角色转变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02 | AI 工程演进</a:t>
            </a:r>
          </a:p>
          <a:p>
            <a:pPr>
              <a:spcAft>
                <a:spcPts val="600"/>
              </a:spcAft>
              <a:defRPr/>
            </a:pPr>
            <a:r>
              <a:t>为什么 Harness 是 10 倍效率的关键？</a:t>
            </a:r>
          </a:p>
          <a:p>
            <a:pPr>
              <a:spcAft>
                <a:spcPts val="600"/>
              </a:spcAft>
              <a:defRPr/>
            </a:pPr>
            <a:r>
              <a:t>Prompt 工程</a:t>
            </a:r>
          </a:p>
          <a:p>
            <a:pPr>
              <a:spcAft>
                <a:spcPts val="600"/>
              </a:spcAft>
              <a:defRPr/>
            </a:pPr>
            <a:r>
              <a:t>核心: Prompt 工程</a:t>
            </a:r>
          </a:p>
          <a:p>
            <a:pPr>
              <a:spcAft>
                <a:spcPts val="600"/>
              </a:spcAft>
              <a:defRPr/>
            </a:pPr>
            <a:r>
              <a:t>痛点: 结果不稳定，无法扩展</a:t>
            </a:r>
          </a:p>
          <a:p>
            <a:pPr>
              <a:spcAft>
                <a:spcPts val="600"/>
              </a:spcAft>
              <a:defRPr/>
            </a:pPr>
            <a:r>
              <a:t>典型：帮我写个函数</a:t>
            </a:r>
          </a:p>
          <a:p>
            <a:pPr>
              <a:spcAft>
                <a:spcPts val="600"/>
              </a:spcAft>
              <a:defRPr/>
            </a:pPr>
            <a:r>
              <a:t>Context 工程</a:t>
            </a:r>
          </a:p>
          <a:p>
            <a:pPr>
              <a:spcAft>
                <a:spcPts val="600"/>
              </a:spcAft>
              <a:defRPr/>
            </a:pPr>
            <a:r>
              <a:t>核心: Context 工程</a:t>
            </a:r>
          </a:p>
          <a:p>
            <a:pPr>
              <a:spcAft>
                <a:spcPts val="600"/>
              </a:spcAft>
              <a:defRPr/>
            </a:pPr>
            <a:r>
              <a:t>痛点: 依然脆弱，难以维护</a:t>
            </a:r>
          </a:p>
          <a:p>
            <a:pPr>
              <a:spcAft>
                <a:spcPts val="600"/>
              </a:spcAft>
              <a:defRPr/>
            </a:pPr>
            <a:r>
              <a:t>典型：参考这些文件写</a:t>
            </a:r>
          </a:p>
          <a:p>
            <a:pPr>
              <a:spcAft>
                <a:spcPts val="600"/>
              </a:spcAft>
              <a:defRPr/>
            </a:pPr>
            <a:r>
              <a:t>Harness 工程</a:t>
            </a:r>
          </a:p>
          <a:p>
            <a:pPr>
              <a:spcAft>
                <a:spcPts val="600"/>
              </a:spcAft>
              <a:defRPr/>
            </a:pPr>
            <a:r>
              <a:t>核心: Harness 工程</a:t>
            </a:r>
          </a:p>
          <a:p>
            <a:pPr>
              <a:spcAft>
                <a:spcPts val="600"/>
              </a:spcAft>
              <a:defRPr/>
            </a:pPr>
            <a:r>
              <a:t>痛点: 解法：约束、反馈、自动化</a:t>
            </a:r>
          </a:p>
          <a:p>
            <a:pPr>
              <a:spcAft>
                <a:spcPts val="600"/>
              </a:spcAft>
              <a:defRPr/>
            </a:pPr>
            <a:r>
              <a:t>典型：Agent，按规则干活</a:t>
            </a:r>
          </a:p>
          <a:p>
            <a:pPr>
              <a:spcAft>
                <a:spcPts val="600"/>
              </a:spcAft>
              <a:defRPr/>
            </a:pPr>
            <a:r>
              <a:t>比喻：模型是 CPU，Harness 是操作系统。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03 | 痛点 vs 解法</a:t>
            </a:r>
          </a:p>
          <a:p>
            <a:pPr>
              <a:spcAft>
                <a:spcPts val="600"/>
              </a:spcAft>
              <a:defRPr/>
            </a:pPr>
            <a:r>
              <a:t>AI 不可控：经常脑补成功，交付结果不可靠</a:t>
            </a:r>
          </a:p>
          <a:p>
            <a:pPr>
              <a:spcAft>
                <a:spcPts val="600"/>
              </a:spcAft>
              <a:defRPr/>
            </a:pPr>
            <a:r>
              <a:t>效率低下：人工反复确认，验证成本太高</a:t>
            </a:r>
          </a:p>
          <a:p>
            <a:pPr>
              <a:spcAft>
                <a:spcPts val="600"/>
              </a:spcAft>
              <a:defRPr/>
            </a:pPr>
            <a:r>
              <a:t>知识孤岛：每次对话重新开始，经验不沉淀</a:t>
            </a:r>
          </a:p>
          <a:p>
            <a:pPr>
              <a:spcAft>
                <a:spcPts val="600"/>
              </a:spcAft>
              <a:defRPr/>
            </a:pPr>
            <a:r>
              <a:t>扩展困难：增加功能需要重写所有 Prompt</a:t>
            </a:r>
          </a:p>
          <a:p>
            <a:pPr>
              <a:spcAft>
                <a:spcPts val="600"/>
              </a:spcAft>
              <a:defRPr/>
            </a:pPr>
            <a:r>
              <a:t>确定性验证：代码级检查，不凭感觉</a:t>
            </a:r>
          </a:p>
          <a:p>
            <a:pPr>
              <a:spcAft>
                <a:spcPts val="600"/>
              </a:spcAft>
              <a:defRPr/>
            </a:pPr>
            <a:r>
              <a:t>自动化流转：主调度 + 5 专家，各司其职</a:t>
            </a:r>
          </a:p>
          <a:p>
            <a:pPr>
              <a:spcAft>
                <a:spcPts val="600"/>
              </a:spcAft>
              <a:defRPr/>
            </a:pPr>
            <a:r>
              <a:t>仓库即大脑：Repo 是唯一的知识来源</a:t>
            </a:r>
          </a:p>
          <a:p>
            <a:pPr>
              <a:spcAft>
                <a:spcPts val="600"/>
              </a:spcAft>
              <a:defRPr/>
            </a:pPr>
            <a:r>
              <a:t>持续进化：一人踩坑，全员免疫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04 | Harness 架构：从聊天到工业级控制</a:t>
            </a:r>
          </a:p>
          <a:p>
            <a:pPr>
              <a:spcAft>
                <a:spcPts val="600"/>
              </a:spcAft>
              <a:defRPr/>
            </a:pPr>
            <a:r>
              <a:t>真实案例：老板说 帮我看看最近的销售数据</a:t>
            </a:r>
          </a:p>
          <a:p>
            <a:pPr>
              <a:spcAft>
                <a:spcPts val="600"/>
              </a:spcAft>
              <a:defRPr/>
            </a:pPr>
            <a:r>
              <a:t>老板手动发 Excel 文件</a:t>
            </a:r>
          </a:p>
          <a:p>
            <a:pPr>
              <a:spcAft>
                <a:spcPts val="600"/>
              </a:spcAft>
              <a:defRPr/>
            </a:pPr>
            <a:r>
              <a:t>老板手动复制结果到飞书</a:t>
            </a:r>
          </a:p>
          <a:p>
            <a:pPr>
              <a:spcAft>
                <a:spcPts val="600"/>
              </a:spcAft>
              <a:defRPr/>
            </a:pPr>
            <a:r>
              <a:t>老板自己核对数据准确性</a:t>
            </a:r>
          </a:p>
          <a:p>
            <a:pPr>
              <a:spcAft>
                <a:spcPts val="600"/>
              </a:spcAft>
              <a:defRPr/>
            </a:pPr>
            <a:r>
              <a:t>结果：AI 经常脑补成功，数据可能出错</a:t>
            </a:r>
          </a:p>
          <a:p>
            <a:pPr>
              <a:spcAft>
                <a:spcPts val="600"/>
              </a:spcAft>
              <a:defRPr/>
            </a:pPr>
            <a:r>
              <a:t>Main 自动识别 -&gt; 路由给 Dataprocess</a:t>
            </a:r>
          </a:p>
          <a:p>
            <a:pPr>
              <a:spcAft>
                <a:spcPts val="600"/>
              </a:spcAft>
              <a:defRPr/>
            </a:pPr>
            <a:r>
              <a:t>Dataprocess 读取 Excel + Schema 验证</a:t>
            </a:r>
          </a:p>
          <a:p>
            <a:pPr>
              <a:spcAft>
                <a:spcPts val="600"/>
              </a:spcAft>
              <a:defRPr/>
            </a:pPr>
            <a:r>
              <a:t>运行 verify_schema.py 自动校验</a:t>
            </a:r>
          </a:p>
          <a:p>
            <a:pPr>
              <a:spcAft>
                <a:spcPts val="600"/>
              </a:spcAft>
              <a:defRPr/>
            </a:pPr>
            <a:r>
              <a:t>Main 签收 -&gt; 自动推送飞书日报</a:t>
            </a:r>
          </a:p>
          <a:p>
            <a:pPr>
              <a:spcAft>
                <a:spcPts val="600"/>
              </a:spcAft>
              <a:defRPr/>
            </a:pPr>
            <a:r>
              <a:t>零人工干预，100% 可追溯</a:t>
            </a:r>
          </a:p>
          <a:p>
            <a:pPr>
              <a:spcAft>
                <a:spcPts val="600"/>
              </a:spcAft>
              <a:defRPr/>
            </a:pPr>
            <a:r>
              <a:t>数据流向</a:t>
            </a:r>
          </a:p>
          <a:p>
            <a:pPr>
              <a:spcAft>
                <a:spcPts val="600"/>
              </a:spcAft>
              <a:defRPr/>
            </a:pPr>
            <a:r>
              <a:t>老板指令</a:t>
            </a:r>
          </a:p>
          <a:p>
            <a:pPr>
              <a:spcAft>
                <a:spcPts val="600"/>
              </a:spcAft>
              <a:defRPr/>
            </a:pPr>
            <a:r>
              <a:t>飞书/语音输入</a:t>
            </a:r>
          </a:p>
          <a:p>
            <a:pPr>
              <a:spcAft>
                <a:spcPts val="600"/>
              </a:spcAft>
              <a:defRPr/>
            </a:pPr>
            <a:r>
              <a:t>Main 调度</a:t>
            </a:r>
          </a:p>
          <a:p>
            <a:pPr>
              <a:spcAft>
                <a:spcPts val="600"/>
              </a:spcAft>
              <a:defRPr/>
            </a:pPr>
            <a:r>
              <a:t>意图识别 -&gt; 路由分发</a:t>
            </a:r>
          </a:p>
          <a:p>
            <a:pPr>
              <a:spcAft>
                <a:spcPts val="600"/>
              </a:spcAft>
              <a:defRPr/>
            </a:pPr>
            <a:r>
              <a:t>5 专家并行</a:t>
            </a:r>
          </a:p>
          <a:p>
            <a:pPr>
              <a:spcAft>
                <a:spcPts val="600"/>
              </a:spcAft>
              <a:defRPr/>
            </a:pPr>
            <a:r>
              <a:t>各司其职执行任务</a:t>
            </a:r>
          </a:p>
          <a:p>
            <a:pPr>
              <a:spcAft>
                <a:spcPts val="600"/>
              </a:spcAft>
              <a:defRPr/>
            </a:pPr>
            <a:r>
              <a:t>验证层</a:t>
            </a:r>
          </a:p>
          <a:p>
            <a:pPr>
              <a:spcAft>
                <a:spcPts val="600"/>
              </a:spcAft>
              <a:defRPr/>
            </a:pPr>
            <a:r>
              <a:t>Schema + verify_schema.py</a:t>
            </a:r>
          </a:p>
          <a:p>
            <a:pPr>
              <a:spcAft>
                <a:spcPts val="600"/>
              </a:spcAft>
              <a:defRPr/>
            </a:pPr>
            <a:r>
              <a:t>结果交付</a:t>
            </a:r>
          </a:p>
          <a:p>
            <a:pPr>
              <a:spcAft>
                <a:spcPts val="600"/>
              </a:spcAft>
              <a:defRPr/>
            </a:pPr>
            <a:r>
              <a:t>飞书/JSON/PPT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05 | 架构全景图：1+5 分层协作模型</a:t>
            </a:r>
          </a:p>
          <a:p>
            <a:pPr>
              <a:spcAft>
                <a:spcPts val="600"/>
              </a:spcAft>
              <a:defRPr/>
            </a:pPr>
            <a:r>
              <a:t>Main 总调度中心</a:t>
            </a:r>
          </a:p>
          <a:p>
            <a:pPr>
              <a:spcAft>
                <a:spcPts val="600"/>
              </a:spcAft>
              <a:defRPr/>
            </a:pPr>
            <a:r>
              <a:t>意图识别 -&gt; 任务拆解 -&gt; 路由分派 -&gt; 验证签收 -&gt; 最终交付</a:t>
            </a:r>
          </a:p>
          <a:p>
            <a:pPr>
              <a:spcAft>
                <a:spcPts val="600"/>
              </a:spcAft>
              <a:defRPr/>
            </a:pPr>
            <a:r>
              <a:t>接收老板指令，智能分发任务给对应专家，最终验证签收后交付</a:t>
            </a:r>
          </a:p>
          <a:p>
            <a:pPr>
              <a:spcAft>
                <a:spcPts val="600"/>
              </a:spcAft>
              <a:defRPr/>
            </a:pPr>
            <a:r>
              <a:t>日程</a:t>
            </a:r>
          </a:p>
          <a:p>
            <a:pPr>
              <a:spcAft>
                <a:spcPts val="600"/>
              </a:spcAft>
              <a:defRPr/>
            </a:pPr>
            <a:r>
              <a:t>Assistant</a:t>
            </a:r>
          </a:p>
          <a:p>
            <a:pPr>
              <a:spcAft>
                <a:spcPts val="600"/>
              </a:spcAft>
              <a:defRPr/>
            </a:pPr>
            <a:r>
              <a:t>日程/邮件/杂活</a:t>
            </a:r>
          </a:p>
          <a:p>
            <a:pPr>
              <a:spcAft>
                <a:spcPts val="600"/>
              </a:spcAft>
              <a:defRPr/>
            </a:pPr>
            <a:r>
              <a:t>审查</a:t>
            </a:r>
          </a:p>
          <a:p>
            <a:pPr>
              <a:spcAft>
                <a:spcPts val="600"/>
              </a:spcAft>
              <a:defRPr/>
            </a:pPr>
            <a:r>
              <a:t>Code Review</a:t>
            </a:r>
          </a:p>
          <a:p>
            <a:pPr>
              <a:spcAft>
                <a:spcPts val="600"/>
              </a:spcAft>
              <a:defRPr/>
            </a:pPr>
            <a:r>
              <a:t>架构/走读/审查</a:t>
            </a:r>
          </a:p>
          <a:p>
            <a:pPr>
              <a:spcAft>
                <a:spcPts val="600"/>
              </a:spcAft>
              <a:defRPr/>
            </a:pPr>
            <a:r>
              <a:t>日报</a:t>
            </a:r>
          </a:p>
          <a:p>
            <a:pPr>
              <a:spcAft>
                <a:spcPts val="600"/>
              </a:spcAft>
              <a:defRPr/>
            </a:pPr>
            <a:r>
              <a:t>Daily Report</a:t>
            </a:r>
          </a:p>
          <a:p>
            <a:pPr>
              <a:spcAft>
                <a:spcPts val="600"/>
              </a:spcAft>
              <a:defRPr/>
            </a:pPr>
            <a:r>
              <a:t>资讯/简报/日报</a:t>
            </a:r>
          </a:p>
          <a:p>
            <a:pPr>
              <a:spcAft>
                <a:spcPts val="600"/>
              </a:spcAft>
              <a:defRPr/>
            </a:pPr>
            <a:r>
              <a:t>研究</a:t>
            </a:r>
          </a:p>
          <a:p>
            <a:pPr>
              <a:spcAft>
                <a:spcPts val="600"/>
              </a:spcAft>
              <a:defRPr/>
            </a:pPr>
            <a:r>
              <a:t>Research</a:t>
            </a:r>
          </a:p>
          <a:p>
            <a:pPr>
              <a:spcAft>
                <a:spcPts val="600"/>
              </a:spcAft>
              <a:defRPr/>
            </a:pPr>
            <a:r>
              <a:t>深挖/调研/方案</a:t>
            </a:r>
          </a:p>
          <a:p>
            <a:pPr>
              <a:spcAft>
                <a:spcPts val="600"/>
              </a:spcAft>
              <a:defRPr/>
            </a:pPr>
            <a:r>
              <a:t>数据</a:t>
            </a:r>
          </a:p>
          <a:p>
            <a:pPr>
              <a:spcAft>
                <a:spcPts val="600"/>
              </a:spcAft>
              <a:defRPr/>
            </a:pPr>
            <a:r>
              <a:t>Dataprocess</a:t>
            </a:r>
          </a:p>
          <a:p>
            <a:pPr>
              <a:spcAft>
                <a:spcPts val="600"/>
              </a:spcAft>
              <a:defRPr/>
            </a:pPr>
            <a:r>
              <a:t>报表/数据/建模</a:t>
            </a:r>
          </a:p>
          <a:p>
            <a:pPr>
              <a:spcAft>
                <a:spcPts val="600"/>
              </a:spcAft>
              <a:defRPr/>
            </a:pPr>
            <a:r>
              <a:t>验证层 | 硬约束 Schema 拦截 | 无验证不交付 | 错题本持续进化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06 | 角色职责矩阵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07 | 核心机制一：验证优先</a:t>
            </a:r>
          </a:p>
          <a:p>
            <a:pPr>
              <a:spcAft>
                <a:spcPts val="600"/>
              </a:spcAft>
              <a:defRPr/>
            </a:pPr>
            <a:r>
              <a:t>Iron Rule: 无代码验证，绝不交付</a:t>
            </a:r>
          </a:p>
          <a:p>
            <a:pPr>
              <a:spcAft>
                <a:spcPts val="600"/>
              </a:spcAft>
              <a:defRPr/>
            </a:pPr>
            <a:r>
              <a:t>1</a:t>
            </a:r>
          </a:p>
          <a:p>
            <a:pPr>
              <a:spcAft>
                <a:spcPts val="600"/>
              </a:spcAft>
              <a:defRPr/>
            </a:pPr>
            <a:r>
              <a:t>执行任务</a:t>
            </a:r>
          </a:p>
          <a:p>
            <a:pPr>
              <a:spcAft>
                <a:spcPts val="600"/>
              </a:spcAft>
              <a:defRPr/>
            </a:pPr>
            <a:r>
              <a:t>Agent 执行具体操作</a:t>
            </a:r>
          </a:p>
          <a:p>
            <a:pPr>
              <a:spcAft>
                <a:spcPts val="600"/>
              </a:spcAft>
              <a:defRPr/>
            </a:pPr>
            <a:r>
              <a:t>2</a:t>
            </a:r>
          </a:p>
          <a:p>
            <a:pPr>
              <a:spcAft>
                <a:spcPts val="600"/>
              </a:spcAft>
              <a:defRPr/>
            </a:pPr>
            <a:r>
              <a:t>运行脚本</a:t>
            </a:r>
          </a:p>
          <a:p>
            <a:pPr>
              <a:spcAft>
                <a:spcPts val="600"/>
              </a:spcAft>
              <a:defRPr/>
            </a:pPr>
            <a:r>
              <a:t>运行 verify_file.sh / schema.py</a:t>
            </a:r>
          </a:p>
          <a:p>
            <a:pPr>
              <a:spcAft>
                <a:spcPts val="600"/>
              </a:spcAft>
              <a:defRPr/>
            </a:pPr>
            <a:r>
              <a:t>3</a:t>
            </a:r>
          </a:p>
          <a:p>
            <a:pPr>
              <a:spcAft>
                <a:spcPts val="600"/>
              </a:spcAft>
              <a:defRPr/>
            </a:pPr>
            <a:r>
              <a:t>获取证据</a:t>
            </a:r>
          </a:p>
          <a:p>
            <a:pPr>
              <a:spcAft>
                <a:spcPts val="600"/>
              </a:spcAft>
              <a:defRPr/>
            </a:pPr>
            <a:r>
              <a:t>拿到 JSON: status=success</a:t>
            </a:r>
          </a:p>
          <a:p>
            <a:pPr>
              <a:spcAft>
                <a:spcPts val="600"/>
              </a:spcAft>
              <a:defRPr/>
            </a:pPr>
            <a:r>
              <a:t>4</a:t>
            </a:r>
          </a:p>
          <a:p>
            <a:pPr>
              <a:spcAft>
                <a:spcPts val="600"/>
              </a:spcAft>
              <a:defRPr/>
            </a:pPr>
            <a:r>
              <a:t>交付结果</a:t>
            </a:r>
          </a:p>
          <a:p>
            <a:pPr>
              <a:spcAft>
                <a:spcPts val="600"/>
              </a:spcAft>
              <a:defRPr/>
            </a:pPr>
            <a:r>
              <a:t>带着证据链汇报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08 | 核心机制二：硬约束 &gt; 软指令</a:t>
            </a:r>
          </a:p>
          <a:p>
            <a:pPr>
              <a:spcAft>
                <a:spcPts val="600"/>
              </a:spcAft>
              <a:defRPr/>
            </a:pPr>
            <a:r>
              <a:t>Application Legibility: 让数据对 Agent 可读</a:t>
            </a:r>
          </a:p>
          <a:p>
            <a:pPr>
              <a:spcAft>
                <a:spcPts val="600"/>
              </a:spcAft>
              <a:defRPr/>
            </a:pPr>
            <a:r>
              <a:t>Prompt: 请注意格式正确</a:t>
            </a:r>
          </a:p>
          <a:p>
            <a:pPr>
              <a:spcAft>
                <a:spcPts val="600"/>
              </a:spcAft>
              <a:defRPr/>
            </a:pPr>
            <a:r>
              <a:t>结果：Agent 经常忽略或幻觉</a:t>
            </a:r>
          </a:p>
          <a:p>
            <a:pPr>
              <a:spcAft>
                <a:spcPts val="600"/>
              </a:spcAft>
              <a:defRPr/>
            </a:pPr>
            <a:r>
              <a:t>问题：LLM 天生发散，不擅长守规矩</a:t>
            </a:r>
          </a:p>
          <a:p>
            <a:pPr>
              <a:spcAft>
                <a:spcPts val="600"/>
              </a:spcAft>
              <a:defRPr/>
            </a:pPr>
            <a:r>
              <a:t>Schema: schemas/report_output.json</a:t>
            </a:r>
          </a:p>
          <a:p>
            <a:pPr>
              <a:spcAft>
                <a:spcPts val="600"/>
              </a:spcAft>
              <a:defRPr/>
            </a:pPr>
            <a:r>
              <a:t>工具: verify_schema.py 自动拦截</a:t>
            </a:r>
          </a:p>
          <a:p>
            <a:pPr>
              <a:spcAft>
                <a:spcPts val="600"/>
              </a:spcAft>
              <a:defRPr/>
            </a:pPr>
            <a:r>
              <a:t>结果：不合规直接打回，无法蒙混过关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09 | 核心机制三：错题本与进化</a:t>
            </a:r>
          </a:p>
          <a:p>
            <a:pPr>
              <a:spcAft>
                <a:spcPts val="600"/>
              </a:spcAft>
              <a:defRPr/>
            </a:pPr>
            <a:r>
              <a:t>每当 Agent 犯错，就工程化一个解决方案，让它再也不会犯同样的错。</a:t>
            </a:r>
          </a:p>
          <a:p>
            <a:pPr>
              <a:spcAft>
                <a:spcPts val="600"/>
              </a:spcAft>
              <a:defRPr/>
            </a:pPr>
            <a:r>
              <a:t>-- Mitchell Hashimoto (Terraform 创始人)</a:t>
            </a:r>
          </a:p>
          <a:p>
            <a:pPr>
              <a:spcAft>
                <a:spcPts val="600"/>
              </a:spcAft>
              <a:defRPr/>
            </a:pPr>
            <a:r>
              <a:t>任务失败或被老板指出</a:t>
            </a:r>
          </a:p>
          <a:p>
            <a:pPr>
              <a:spcAft>
                <a:spcPts val="600"/>
              </a:spcAft>
              <a:defRPr/>
            </a:pPr>
            <a:r>
              <a:t>写入 LESSONS_LEARNED.md</a:t>
            </a:r>
          </a:p>
          <a:p>
            <a:pPr>
              <a:spcAft>
                <a:spcPts val="600"/>
              </a:spcAft>
              <a:defRPr/>
            </a:pPr>
            <a:r>
              <a:t>全员启动时必读此文件</a:t>
            </a:r>
          </a:p>
          <a:p>
            <a:pPr>
              <a:spcAft>
                <a:spcPts val="600"/>
              </a:spcAft>
              <a:defRPr/>
            </a:pPr>
            <a:r>
              <a:t>系统长记性，越用越强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10 | 标准工作流 (SOP)</a:t>
            </a:r>
          </a:p>
          <a:p>
            <a:pPr>
              <a:spcAft>
                <a:spcPts val="600"/>
              </a:spcAft>
              <a:defRPr/>
            </a:pPr>
            <a:r>
              <a:t>1</a:t>
            </a:r>
          </a:p>
          <a:p>
            <a:pPr>
              <a:spcAft>
                <a:spcPts val="600"/>
              </a:spcAft>
              <a:defRPr/>
            </a:pPr>
            <a:r>
              <a:t>老板下达指令</a:t>
            </a:r>
          </a:p>
          <a:p>
            <a:pPr>
              <a:spcAft>
                <a:spcPts val="600"/>
              </a:spcAft>
              <a:defRPr/>
            </a:pPr>
            <a:r>
              <a:t>意图 &amp; 目标</a:t>
            </a:r>
          </a:p>
          <a:p>
            <a:pPr>
              <a:spcAft>
                <a:spcPts val="600"/>
              </a:spcAft>
              <a:defRPr/>
            </a:pPr>
            <a:r>
              <a:t>2</a:t>
            </a:r>
          </a:p>
          <a:p>
            <a:pPr>
              <a:spcAft>
                <a:spcPts val="600"/>
              </a:spcAft>
              <a:defRPr/>
            </a:pPr>
            <a:r>
              <a:t>Main 调度</a:t>
            </a:r>
          </a:p>
          <a:p>
            <a:pPr>
              <a:spcAft>
                <a:spcPts val="600"/>
              </a:spcAft>
              <a:defRPr/>
            </a:pPr>
            <a:r>
              <a:t>路由 &amp; 分派</a:t>
            </a:r>
          </a:p>
          <a:p>
            <a:pPr>
              <a:spcAft>
                <a:spcPts val="600"/>
              </a:spcAft>
              <a:defRPr/>
            </a:pPr>
            <a:r>
              <a:t>3</a:t>
            </a:r>
          </a:p>
          <a:p>
            <a:pPr>
              <a:spcAft>
                <a:spcPts val="600"/>
              </a:spcAft>
              <a:defRPr/>
            </a:pPr>
            <a:r>
              <a:t>专家执行</a:t>
            </a:r>
          </a:p>
          <a:p>
            <a:pPr>
              <a:spcAft>
                <a:spcPts val="600"/>
              </a:spcAft>
              <a:defRPr/>
            </a:pPr>
            <a:r>
              <a:t>干活 + 自检</a:t>
            </a:r>
          </a:p>
          <a:p>
            <a:pPr>
              <a:spcAft>
                <a:spcPts val="600"/>
              </a:spcAft>
              <a:defRPr/>
            </a:pPr>
            <a:r>
              <a:t>4</a:t>
            </a:r>
          </a:p>
          <a:p>
            <a:pPr>
              <a:spcAft>
                <a:spcPts val="600"/>
              </a:spcAft>
              <a:defRPr/>
            </a:pPr>
            <a:r>
              <a:t>Main 签收</a:t>
            </a:r>
          </a:p>
          <a:p>
            <a:pPr>
              <a:spcAft>
                <a:spcPts val="600"/>
              </a:spcAft>
              <a:defRPr/>
            </a:pPr>
            <a:r>
              <a:t>验证证据链</a:t>
            </a:r>
          </a:p>
          <a:p>
            <a:pPr>
              <a:spcAft>
                <a:spcPts val="600"/>
              </a:spcAft>
              <a:defRPr/>
            </a:pPr>
            <a:r>
              <a:t>5</a:t>
            </a:r>
          </a:p>
          <a:p>
            <a:pPr>
              <a:spcAft>
                <a:spcPts val="600"/>
              </a:spcAft>
              <a:defRPr/>
            </a:pPr>
            <a:r>
              <a:t>飞书交付</a:t>
            </a:r>
          </a:p>
          <a:p>
            <a:pPr>
              <a:spcAft>
                <a:spcPts val="600"/>
              </a:spcAft>
              <a:defRPr/>
            </a:pPr>
            <a:r>
              <a:t>结果推送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11 | 场景：数据处理实战</a:t>
            </a:r>
          </a:p>
          <a:p>
            <a:pPr>
              <a:spcAft>
                <a:spcPts val="600"/>
              </a:spcAft>
              <a:defRPr/>
            </a:pPr>
            <a:r>
              <a:t>输入</a:t>
            </a:r>
          </a:p>
          <a:p>
            <a:pPr>
              <a:spcAft>
                <a:spcPts val="600"/>
              </a:spcAft>
              <a:defRPr/>
            </a:pPr>
            <a:r>
              <a:t>Excel/PDF</a:t>
            </a:r>
          </a:p>
          <a:p>
            <a:pPr>
              <a:spcAft>
                <a:spcPts val="600"/>
              </a:spcAft>
              <a:defRPr/>
            </a:pPr>
            <a:r>
              <a:t>处理 &amp; 验证</a:t>
            </a:r>
          </a:p>
          <a:p>
            <a:pPr>
              <a:spcAft>
                <a:spcPts val="600"/>
              </a:spcAft>
              <a:defRPr/>
            </a:pPr>
            <a:r>
              <a:t>Schema Check</a:t>
            </a:r>
          </a:p>
          <a:p>
            <a:pPr>
              <a:spcAft>
                <a:spcPts val="600"/>
              </a:spcAft>
              <a:defRPr/>
            </a:pPr>
            <a:r>
              <a:t>输出</a:t>
            </a:r>
          </a:p>
          <a:p>
            <a:pPr>
              <a:spcAft>
                <a:spcPts val="600"/>
              </a:spcAft>
              <a:defRPr/>
            </a:pPr>
            <a:r>
              <a:t>标准 JSON/Excel</a:t>
            </a:r>
          </a:p>
          <a:p>
            <a:pPr>
              <a:spcAft>
                <a:spcPts val="600"/>
              </a:spcAft>
              <a:defRPr/>
            </a:pPr>
            <a:r>
              <a:t>核心价值：产出的数据不仅是给人看的，更是给其他 Agent 用的。机器可读，无缝流转。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12 | 场景：代码走读与审查</a:t>
            </a:r>
          </a:p>
          <a:p>
            <a:pPr>
              <a:spcAft>
                <a:spcPts val="600"/>
              </a:spcAft>
              <a:defRPr/>
            </a:pPr>
            <a:r>
              <a:t>它不写生产代码，它只出主意。</a:t>
            </a:r>
          </a:p>
          <a:p>
            <a:pPr>
              <a:spcAft>
                <a:spcPts val="600"/>
              </a:spcAft>
              <a:defRPr/>
            </a:pPr>
            <a:r>
              <a:t>关注点：逻辑闭环、架构风险、扩展性、团队规范。</a:t>
            </a:r>
          </a:p>
          <a:p>
            <a:pPr>
              <a:spcAft>
                <a:spcPts val="600"/>
              </a:spcAft>
              <a:defRPr/>
            </a:pPr>
            <a:r>
              <a:t>典型任务：10 万行遗留代码怎么 Review？</a:t>
            </a:r>
          </a:p>
          <a:p>
            <a:pPr>
              <a:spcAft>
                <a:spcPts val="600"/>
              </a:spcAft>
              <a:defRPr/>
            </a:pPr>
            <a:r>
              <a:t>评审清单 (Checklist)</a:t>
            </a:r>
          </a:p>
          <a:p>
            <a:pPr>
              <a:spcAft>
                <a:spcPts val="600"/>
              </a:spcAft>
              <a:defRPr/>
            </a:pPr>
            <a:r>
              <a:t>架构改进建议</a:t>
            </a:r>
          </a:p>
          <a:p>
            <a:pPr>
              <a:spcAft>
                <a:spcPts val="600"/>
              </a:spcAft>
              <a:defRPr/>
            </a:pPr>
            <a:r>
              <a:t>SonarQube 扫描策略</a:t>
            </a:r>
          </a:p>
          <a:p>
            <a:pPr>
              <a:spcAft>
                <a:spcPts val="600"/>
              </a:spcAft>
              <a:defRPr/>
            </a:pPr>
            <a:r>
              <a:t>技术债务优先级排序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13 | 实施路线图</a:t>
            </a:r>
          </a:p>
          <a:p>
            <a:pPr>
              <a:spcAft>
                <a:spcPts val="600"/>
              </a:spcAft>
              <a:defRPr/>
            </a:pPr>
            <a:r>
              <a:t>已落地</a:t>
            </a:r>
          </a:p>
          <a:p>
            <a:pPr>
              <a:spcAft>
                <a:spcPts val="600"/>
              </a:spcAft>
              <a:defRPr/>
            </a:pPr>
            <a:r>
              <a:t>5 大专家 Agent 上线</a:t>
            </a:r>
          </a:p>
          <a:p>
            <a:pPr>
              <a:spcAft>
                <a:spcPts val="600"/>
              </a:spcAft>
              <a:defRPr/>
            </a:pPr>
            <a:r>
              <a:t>验证优先机制落地</a:t>
            </a:r>
          </a:p>
          <a:p>
            <a:pPr>
              <a:spcAft>
                <a:spcPts val="600"/>
              </a:spcAft>
              <a:defRPr/>
            </a:pPr>
            <a:r>
              <a:t>Harness 规则库建立</a:t>
            </a:r>
          </a:p>
          <a:p>
            <a:pPr>
              <a:spcAft>
                <a:spcPts val="600"/>
              </a:spcAft>
              <a:defRPr/>
            </a:pPr>
            <a:r>
              <a:t>进行中</a:t>
            </a:r>
          </a:p>
          <a:p>
            <a:pPr>
              <a:spcAft>
                <a:spcPts val="600"/>
              </a:spcAft>
              <a:defRPr/>
            </a:pPr>
            <a:r>
              <a:t>跨 Agent 自动化协作</a:t>
            </a:r>
          </a:p>
          <a:p>
            <a:pPr>
              <a:spcAft>
                <a:spcPts val="600"/>
              </a:spcAft>
              <a:defRPr/>
            </a:pPr>
            <a:r>
              <a:t>研发到数据到报告自动流</a:t>
            </a:r>
          </a:p>
          <a:p>
            <a:pPr>
              <a:spcAft>
                <a:spcPts val="600"/>
              </a:spcAft>
              <a:defRPr/>
            </a:pPr>
            <a:r>
              <a:t>定制化个人 Agent</a:t>
            </a:r>
          </a:p>
          <a:p>
            <a:pPr>
              <a:spcAft>
                <a:spcPts val="600"/>
              </a:spcAft>
              <a:defRPr/>
            </a:pPr>
            <a:r>
              <a:t>目标</a:t>
            </a:r>
          </a:p>
          <a:p>
            <a:pPr>
              <a:spcAft>
                <a:spcPts val="600"/>
              </a:spcAft>
              <a:defRPr/>
            </a:pPr>
            <a:r>
              <a:t>全自动驾驶模式</a:t>
            </a:r>
          </a:p>
          <a:p>
            <a:pPr>
              <a:spcAft>
                <a:spcPts val="600"/>
              </a:spcAft>
              <a:defRPr/>
            </a:pPr>
            <a:r>
              <a:t>系统自我修复</a:t>
            </a:r>
          </a:p>
          <a:p>
            <a:pPr>
              <a:spcAft>
                <a:spcPts val="600"/>
              </a:spcAft>
              <a:defRPr/>
            </a:pPr>
            <a:r>
              <a:t>研发效率 10 倍提升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14 | 我们的角色转变</a:t>
            </a:r>
          </a:p>
          <a:p>
            <a:pPr>
              <a:spcAft>
                <a:spcPts val="600"/>
              </a:spcAft>
              <a:defRPr/>
            </a:pPr>
            <a:r>
              <a:t>从写代码的人变成管理代码 AI 的人</a:t>
            </a:r>
          </a:p>
          <a:p>
            <a:pPr>
              <a:spcAft>
                <a:spcPts val="600"/>
              </a:spcAft>
              <a:defRPr/>
            </a:pPr>
            <a:r>
              <a:t>以前：我们一行行写代码，我们是瓶颈</a:t>
            </a:r>
          </a:p>
          <a:p>
            <a:pPr>
              <a:spcAft>
                <a:spcPts val="600"/>
              </a:spcAft>
              <a:defRPr/>
            </a:pPr>
            <a:r>
              <a:t>现在：我们写规则、写约束、写验证脚本</a:t>
            </a:r>
          </a:p>
          <a:p>
            <a:pPr>
              <a:spcAft>
                <a:spcPts val="600"/>
              </a:spcAft>
              <a:defRPr/>
            </a:pPr>
            <a:r>
              <a:t>以前：审查结果</a:t>
            </a:r>
          </a:p>
          <a:p>
            <a:pPr>
              <a:spcAft>
                <a:spcPts val="600"/>
              </a:spcAft>
              <a:defRPr/>
            </a:pPr>
            <a:r>
              <a:t>现在：审查过程</a:t>
            </a:r>
          </a:p>
          <a:p>
            <a:pPr>
              <a:spcAft>
                <a:spcPts val="600"/>
              </a:spcAft>
              <a:defRPr/>
            </a:pPr>
            <a:r>
              <a:t>以前：个人英雄主义</a:t>
            </a:r>
          </a:p>
          <a:p>
            <a:pPr>
              <a:spcAft>
                <a:spcPts val="600"/>
              </a:spcAft>
              <a:defRPr/>
            </a:pPr>
            <a:r>
              <a:t>现在：Harness 工程师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让我们用 AI 重新定义研发效率</a:t>
            </a:r>
          </a:p>
          <a:p>
            <a:pPr>
              <a:spcAft>
                <a:spcPts val="600"/>
              </a:spcAft>
              <a:defRPr/>
            </a:pPr>
            <a:r>
              <a:t>Q &amp; A</a:t>
            </a:r>
          </a:p>
          <a:p>
            <a:pPr>
              <a:spcAft>
                <a:spcPts val="600"/>
              </a:spcAft>
              <a:defRPr/>
            </a:pPr>
            <a:r>
              <a:t>架构已就绪，随时开干！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AI Agent 团队架构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Harness Engineering in Action</a:t>
            </a:r>
            <a:br/>
            <a:r>
              <a:t>从跟 AI 聊天到管理工业级智能团队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01 | 目录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🚀 AI 工程演进：从 Prompt 到 Harness</a:t>
            </a:r>
          </a:p>
          <a:p>
            <a:pPr>
              <a:spcAft>
                <a:spcPts val="600"/>
              </a:spcAft>
              <a:defRPr/>
            </a:pPr>
            <a:r>
              <a:t>🏗️ Harness 架构：解决什么问题 &amp; 核心优势</a:t>
            </a:r>
          </a:p>
          <a:p>
            <a:pPr>
              <a:spcAft>
                <a:spcPts val="600"/>
              </a:spcAft>
              <a:defRPr/>
            </a:pPr>
            <a:r>
              <a:t>👥 1+5 架构全景图 (分层协作模型)</a:t>
            </a:r>
          </a:p>
          <a:p>
            <a:pPr>
              <a:spcAft>
                <a:spcPts val="600"/>
              </a:spcAft>
              <a:defRPr/>
            </a:pPr>
            <a:r>
              <a:t>⚙️ 三大核心机制：验证、约束、进化</a:t>
            </a:r>
          </a:p>
          <a:p>
            <a:pPr>
              <a:spcAft>
                <a:spcPts val="600"/>
              </a:spcAft>
              <a:defRPr/>
            </a:pPr>
            <a:r>
              <a:t>🗺️ 实施路线图 &amp; 角色转变</a:t>
            </a:r>
          </a:p>
          <a:p>
            <a:pPr>
              <a:spcAft>
                <a:spcPts val="600"/>
              </a:spcAft>
              <a:defRPr/>
            </a:pPr>
            <a:r>
              <a:t>💡 实战避坑与最佳实践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02 | AI 工程演进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📉 传统开发模式</a:t>
            </a:r>
            <a:br/>
            <a:r>
              <a:t>• Prompt 工程：写个函数</a:t>
            </a:r>
            <a:br/>
            <a:r>
              <a:t>• Context 工程：参考文件写</a:t>
            </a:r>
            <a:br/>
            <a:r>
              <a:t>• 痛点：结果不稳定，不可扩展</a:t>
            </a:r>
            <a:br/>
            <a:r>
              <a:t>• 瓶颈：人是唯一的控制器</a:t>
            </a:r>
          </a:p>
          <a:p>
            <a:pPr>
              <a:spcAft>
                <a:spcPts val="600"/>
              </a:spcAft>
              <a:defRPr/>
            </a:pPr>
            <a:r>
              <a:t>📈 Harness 工程</a:t>
            </a:r>
            <a:br/>
            <a:r>
              <a:t>• 核心：约束 + 反馈 + 自动</a:t>
            </a:r>
            <a:br/>
            <a:r>
              <a:t>• 典型：Agent 按规则干活</a:t>
            </a:r>
            <a:br/>
            <a:r>
              <a:t>• 解法：工程化控制</a:t>
            </a:r>
            <a:br/>
            <a:r>
              <a:t>• 比喻：模型是 CPU，Harness 是操作系统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03 | 痛点 vs 解法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❌ 痛点：AI 不可控</a:t>
            </a:r>
            <a:br/>
            <a:r>
              <a:t>• 经常脑补，交付结果不可靠</a:t>
            </a:r>
            <a:br/>
            <a:r>
              <a:t>• 效率低下：人工反复修改</a:t>
            </a:r>
            <a:br/>
            <a:r>
              <a:t>• 无法规模化</a:t>
            </a:r>
          </a:p>
          <a:p>
            <a:pPr>
              <a:spcAft>
                <a:spcPts val="600"/>
              </a:spcAft>
              <a:defRPr/>
            </a:pPr>
            <a:r>
              <a:t>✅ 解法：工业级 Harness</a:t>
            </a:r>
            <a:br/>
            <a:r>
              <a:t>• 确定性验证：代码级检查</a:t>
            </a:r>
            <a:br/>
            <a:r>
              <a:t>• 自动化流转：主调度 + 5 专家</a:t>
            </a:r>
            <a:br/>
            <a:r>
              <a:t>• 结果：稳定、可预期、高效率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04 | 真实案例：老板的指令去哪了？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1. 📥 输入：老板在飞书/语音说“帮我看看最近销售数据”</a:t>
            </a:r>
          </a:p>
          <a:p>
            <a:pPr>
              <a:spcAft>
                <a:spcPts val="600"/>
              </a:spcAft>
              <a:defRPr/>
            </a:pPr>
            <a:r>
              <a:t>2. 🧠 意图识别：Main 自动识别需求，路由给 Dataprocess</a:t>
            </a:r>
          </a:p>
          <a:p>
            <a:pPr>
              <a:spcAft>
                <a:spcPts val="600"/>
              </a:spcAft>
              <a:defRPr/>
            </a:pPr>
            <a:r>
              <a:t>3. 🏃 执行：DataAgent 跑脚本、查库、生成图表</a:t>
            </a:r>
          </a:p>
          <a:p>
            <a:pPr>
              <a:spcAft>
                <a:spcPts val="600"/>
              </a:spcAft>
              <a:defRPr/>
            </a:pPr>
            <a:r>
              <a:t>4. 🛡️ 验证：运行 verify_schema.py，检查数据格式</a:t>
            </a:r>
          </a:p>
          <a:p>
            <a:pPr>
              <a:spcAft>
                <a:spcPts val="600"/>
              </a:spcAft>
              <a:defRPr/>
            </a:pPr>
            <a:r>
              <a:t>5. 📤 交付：自动推送 JSON/PPT 到飞书，老板直接看结果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05 | 架构全景图：1+5 分层协作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🎯 Main (总调度中心): 意图识别 -&gt; 任务拆解 -&gt; 路由分派 -&gt; 验证签收</a:t>
            </a:r>
          </a:p>
          <a:p>
            <a:pPr>
              <a:spcAft>
                <a:spcPts val="600"/>
              </a:spcAft>
              <a:defRPr/>
            </a:pPr>
            <a:r>
              <a:t>📅 Assistant: 日程 / 邮件 / 杂活自动化</a:t>
            </a:r>
          </a:p>
          <a:p>
            <a:pPr>
              <a:spcAft>
                <a:spcPts val="600"/>
              </a:spcAft>
              <a:defRPr/>
            </a:pPr>
            <a:r>
              <a:t>🔍 Code Review: 架构走读 / 代码审查 / 风险拦截</a:t>
            </a:r>
          </a:p>
          <a:p>
            <a:pPr>
              <a:spcAft>
                <a:spcPts val="600"/>
              </a:spcAft>
              <a:defRPr/>
            </a:pPr>
            <a:r>
              <a:t>📰 Daily Report: 资讯简报 / 自动日报 / 飞书推送</a:t>
            </a:r>
          </a:p>
          <a:p>
            <a:pPr>
              <a:spcAft>
                <a:spcPts val="600"/>
              </a:spcAft>
              <a:defRPr/>
            </a:pPr>
            <a:r>
              <a:t>📚 Research: 深挖调研 / 方案设计 / 竞品分析</a:t>
            </a:r>
          </a:p>
          <a:p>
            <a:pPr>
              <a:spcAft>
                <a:spcPts val="600"/>
              </a:spcAft>
              <a:defRPr/>
            </a:pPr>
            <a:r>
              <a:t>📊 Dataprocess: 报表生成 / 数据建模 / 格式转换</a:t>
            </a:r>
          </a:p>
          <a:p>
            <a:pPr>
              <a:spcAft>
                <a:spcPts val="600"/>
              </a:spcAft>
              <a:defRPr/>
            </a:pPr>
            <a:r>
              <a:t>🛡️ 验证层 (铁律): 硬约束 Schema 拦截 | 无验证不交付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06 | 角色职责矩阵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• Main Orchestrator: 指挥官。不写代码，只负责调度与质量把控。</a:t>
            </a:r>
          </a:p>
          <a:p>
            <a:pPr>
              <a:spcAft>
                <a:spcPts val="600"/>
              </a:spcAft>
              <a:defRPr/>
            </a:pPr>
            <a:r>
              <a:t>• Assistant: 贴身秘书。处理琐碎事务，释放开发者精力。</a:t>
            </a:r>
          </a:p>
          <a:p>
            <a:pPr>
              <a:spcAft>
                <a:spcPts val="600"/>
              </a:spcAft>
              <a:defRPr/>
            </a:pPr>
            <a:r>
              <a:t>• Code Review: 质量门禁。专注架构合理性与潜在风险，不碰业务逻辑。</a:t>
            </a:r>
          </a:p>
          <a:p>
            <a:pPr>
              <a:spcAft>
                <a:spcPts val="600"/>
              </a:spcAft>
              <a:defRPr/>
            </a:pPr>
            <a:r>
              <a:t>• Research: 军师。负责前沿技术调研，提供方案选型建议。</a:t>
            </a:r>
          </a:p>
          <a:p>
            <a:pPr>
              <a:spcAft>
                <a:spcPts val="600"/>
              </a:spcAft>
              <a:defRPr/>
            </a:pPr>
            <a:r>
              <a:t>• Dataprocess: 数据工匠。处理 Excel/PDF/JSON 转换与建模。</a:t>
            </a:r>
          </a:p>
          <a:p>
            <a:pPr>
              <a:spcAft>
                <a:spcPts val="600"/>
              </a:spcAft>
              <a:defRPr/>
            </a:pPr>
            <a:r>
              <a:t>• Daily Report: 播报员。每日定时汇总，保持信息同步。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07 | 核心机制一：验证优先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⚡ Iron Rule: 无代码验证，绝不交付</a:t>
            </a:r>
          </a:p>
          <a:p>
            <a:pPr>
              <a:spcAft>
                <a:spcPts val="600"/>
              </a:spcAft>
              <a:defRPr/>
            </a:pPr>
            <a:r>
              <a:t>1. 执行任务：Agent 生成代码/数据/文档</a:t>
            </a:r>
          </a:p>
          <a:p>
            <a:pPr>
              <a:spcAft>
                <a:spcPts val="600"/>
              </a:spcAft>
              <a:defRPr/>
            </a:pPr>
            <a:r>
              <a:t>2. 运行脚本：调用 verify_schema.py 或 shell 脚本</a:t>
            </a:r>
          </a:p>
          <a:p>
            <a:pPr>
              <a:spcAft>
                <a:spcPts val="600"/>
              </a:spcAft>
              <a:defRPr/>
            </a:pPr>
            <a:r>
              <a:t>3. 获取证据：拿到 JSON 结果 {status: 'success', data: ...}</a:t>
            </a:r>
          </a:p>
          <a:p>
            <a:pPr>
              <a:spcAft>
                <a:spcPts val="600"/>
              </a:spcAft>
              <a:defRPr/>
            </a:pPr>
            <a:r>
              <a:t>4. 交付结果：带着证据链向 Main 汇报，Main 签收后交付用户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08 | 核心机制二：硬约束 &gt; 软指令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🚫 软指令 (Prompt):</a:t>
            </a:r>
          </a:p>
          <a:p>
            <a:pPr>
              <a:spcAft>
                <a:spcPts val="600"/>
              </a:spcAft>
              <a:defRPr/>
            </a:pPr>
            <a:r>
              <a:t>• “请注意格式正确” -&gt; 结果：Agent 经常忽略或脑补</a:t>
            </a:r>
          </a:p>
          <a:p>
            <a:pPr>
              <a:spcAft>
                <a:spcPts val="600"/>
              </a:spcAft>
              <a:defRPr/>
            </a:pPr>
            <a:r>
              <a:t>🛡️ 硬约束 (Schema/Code):</a:t>
            </a:r>
          </a:p>
          <a:p>
            <a:pPr>
              <a:spcAft>
                <a:spcPts val="600"/>
              </a:spcAft>
              <a:defRPr/>
            </a:pPr>
            <a:r>
              <a:t>• `schemas/report_output.json` -&gt; 强制校验字段类型、长度、必填项</a:t>
            </a:r>
          </a:p>
          <a:p>
            <a:pPr>
              <a:spcAft>
                <a:spcPts val="600"/>
              </a:spcAft>
              <a:defRPr/>
            </a:pPr>
            <a:r>
              <a:t>• 校验失败？直接打回重做，不凭感觉判断对错</a:t>
            </a:r>
          </a:p>
          <a:p>
            <a:pPr>
              <a:spcAft>
                <a:spcPts val="600"/>
              </a:spcAft>
              <a:defRPr/>
            </a:pPr>
            <a:r>
              <a:t>💡 Application Legibility: 让数据对 AI 可读，而非对人可读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09 | 核心机制三：错题本与进化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“每当 Agent 犯错，就工程化一个解决方案，让它再也不会犯同样的错。”</a:t>
            </a:r>
          </a:p>
          <a:p>
            <a:pPr>
              <a:spcAft>
                <a:spcPts val="600"/>
              </a:spcAft>
              <a:defRPr/>
            </a:pPr>
            <a:r>
              <a:t>1. 🚨 任务失败 / 老板指出错误</a:t>
            </a:r>
          </a:p>
          <a:p>
            <a:pPr>
              <a:spcAft>
                <a:spcPts val="600"/>
              </a:spcAft>
              <a:defRPr/>
            </a:pPr>
            <a:r>
              <a:t>2. 📝 写入 LESSONS_LEARNED.md</a:t>
            </a:r>
          </a:p>
          <a:p>
            <a:pPr>
              <a:spcAft>
                <a:spcPts val="600"/>
              </a:spcAft>
              <a:defRPr/>
            </a:pPr>
            <a:r>
              <a:t>3. 🔄 全员启动时必读此文件</a:t>
            </a:r>
          </a:p>
          <a:p>
            <a:pPr>
              <a:spcAft>
                <a:spcPts val="600"/>
              </a:spcAft>
              <a:defRPr/>
            </a:pPr>
            <a:r>
              <a:t>4. 🧠 系统长记性，越用越强</a:t>
            </a:r>
          </a:p>
          <a:p>
            <a:pPr>
              <a:spcAft>
                <a:spcPts val="600"/>
              </a:spcAft>
              <a:defRPr/>
            </a:pPr>
            <a:r>
              <a:t>🌟 进化不是靠训练，而是靠工程化约束与反馈循环。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10 | 标准工作流 (SOP)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1️⃣ 老板下达指令 -&gt; 明确意图与目标</a:t>
            </a:r>
          </a:p>
          <a:p>
            <a:pPr>
              <a:spcAft>
                <a:spcPts val="600"/>
              </a:spcAft>
              <a:defRPr/>
            </a:pPr>
            <a:r>
              <a:t>2️⃣ Main 调度 -&gt; 路由与分派给对应专家</a:t>
            </a:r>
          </a:p>
          <a:p>
            <a:pPr>
              <a:spcAft>
                <a:spcPts val="600"/>
              </a:spcAft>
              <a:defRPr/>
            </a:pPr>
            <a:r>
              <a:t>3️⃣ 专家执行 -&gt; 干活 + 运行验证脚本自检</a:t>
            </a:r>
          </a:p>
          <a:p>
            <a:pPr>
              <a:spcAft>
                <a:spcPts val="600"/>
              </a:spcAft>
              <a:defRPr/>
            </a:pPr>
            <a:r>
              <a:t>4️⃣ Main 签收 -&gt; 检查证据链，不合格直接打回</a:t>
            </a:r>
          </a:p>
          <a:p>
            <a:pPr>
              <a:spcAft>
                <a:spcPts val="600"/>
              </a:spcAft>
              <a:defRPr/>
            </a:pPr>
            <a:r>
              <a:t>5️⃣ 飞书交付 -&gt; 结果推送到指定频道</a:t>
            </a:r>
          </a:p>
          <a:p>
            <a:pPr>
              <a:spcAft>
                <a:spcPts val="600"/>
              </a:spcAft>
              <a:defRPr/>
            </a:pPr>
            <a:r>
              <a:t>🔁 循环：如果失败，触发“错题本”机制，更新约束后重试。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11 | 场景实战：数据处理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📥 输入：老板发来杂乱的 Excel / PDF / 截图</a:t>
            </a:r>
          </a:p>
          <a:p>
            <a:pPr>
              <a:spcAft>
                <a:spcPts val="600"/>
              </a:spcAft>
              <a:defRPr/>
            </a:pPr>
            <a:r>
              <a:t>⚙️ 处理 &amp; 验证：</a:t>
            </a:r>
          </a:p>
          <a:p>
            <a:pPr>
              <a:spcAft>
                <a:spcPts val="600"/>
              </a:spcAft>
              <a:defRPr/>
            </a:pPr>
            <a:r>
              <a:t>• DataAgent 提取 -&gt; 清洗 -&gt; 转换</a:t>
            </a:r>
          </a:p>
          <a:p>
            <a:pPr>
              <a:spcAft>
                <a:spcPts val="600"/>
              </a:spcAft>
              <a:defRPr/>
            </a:pPr>
            <a:r>
              <a:t>• 运行 Schema Check 确保字段完整</a:t>
            </a:r>
          </a:p>
          <a:p>
            <a:pPr>
              <a:spcAft>
                <a:spcPts val="600"/>
              </a:spcAft>
              <a:defRPr/>
            </a:pPr>
            <a:r>
              <a:t>📤 输出：标准 JSON / Excel / PPT</a:t>
            </a:r>
          </a:p>
          <a:p>
            <a:pPr>
              <a:spcAft>
                <a:spcPts val="600"/>
              </a:spcAft>
              <a:defRPr/>
            </a:pPr>
            <a:r>
              <a:t>💎 核心价值：产出的数据不仅是给人看的，更是给其他 Agent 调用的！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12 | 场景实战：代码走读与审查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👀 它不写生产代码，它只出主意。</a:t>
            </a:r>
          </a:p>
          <a:p>
            <a:pPr>
              <a:spcAft>
                <a:spcPts val="600"/>
              </a:spcAft>
              <a:defRPr/>
            </a:pPr>
            <a:r>
              <a:t>🎯 关注点：逻辑闭环、架构风险、扩展性、安全漏洞</a:t>
            </a:r>
          </a:p>
          <a:p>
            <a:pPr>
              <a:spcAft>
                <a:spcPts val="600"/>
              </a:spcAft>
              <a:defRPr/>
            </a:pPr>
            <a:r>
              <a:t>📋 评审清单 (Checklist):</a:t>
            </a:r>
          </a:p>
          <a:p>
            <a:pPr>
              <a:spcAft>
                <a:spcPts val="600"/>
              </a:spcAft>
              <a:defRPr/>
            </a:pPr>
            <a:r>
              <a:t>• 是否符合架构规范？</a:t>
            </a:r>
          </a:p>
          <a:p>
            <a:pPr>
              <a:spcAft>
                <a:spcPts val="600"/>
              </a:spcAft>
              <a:defRPr/>
            </a:pPr>
            <a:r>
              <a:t>• 是否有潜在的死锁/内存泄漏？</a:t>
            </a:r>
          </a:p>
          <a:p>
            <a:pPr>
              <a:spcAft>
                <a:spcPts val="600"/>
              </a:spcAft>
              <a:defRPr/>
            </a:pPr>
            <a:r>
              <a:t>• 日志与异常处理是否完善？</a:t>
            </a:r>
          </a:p>
          <a:p>
            <a:pPr>
              <a:spcAft>
                <a:spcPts val="600"/>
              </a:spcAft>
              <a:defRPr/>
            </a:pPr>
            <a:r>
              <a:t>• SonarQube 扫描结果复核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13 | 实施路线图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✅ 已落地：</a:t>
            </a:r>
          </a:p>
          <a:p>
            <a:pPr>
              <a:spcAft>
                <a:spcPts val="600"/>
              </a:spcAft>
              <a:defRPr/>
            </a:pPr>
            <a:r>
              <a:t>• 5 大专家 Agent 上线</a:t>
            </a:r>
          </a:p>
          <a:p>
            <a:pPr>
              <a:spcAft>
                <a:spcPts val="600"/>
              </a:spcAft>
              <a:defRPr/>
            </a:pPr>
            <a:r>
              <a:t>• 验证优先机制落地</a:t>
            </a:r>
          </a:p>
          <a:p>
            <a:pPr>
              <a:spcAft>
                <a:spcPts val="600"/>
              </a:spcAft>
              <a:defRPr/>
            </a:pPr>
            <a:r>
              <a:t>• Harness 调度跑通</a:t>
            </a:r>
          </a:p>
          <a:p>
            <a:pPr>
              <a:spcAft>
                <a:spcPts val="600"/>
              </a:spcAft>
              <a:defRPr/>
            </a:pPr>
            <a:r>
              <a:t>🚧 进行中：</a:t>
            </a:r>
          </a:p>
          <a:p>
            <a:pPr>
              <a:spcAft>
                <a:spcPts val="600"/>
              </a:spcAft>
              <a:defRPr/>
            </a:pPr>
            <a:r>
              <a:t>• 跨 Agent 自动化协作</a:t>
            </a:r>
          </a:p>
          <a:p>
            <a:pPr>
              <a:spcAft>
                <a:spcPts val="600"/>
              </a:spcAft>
              <a:defRPr/>
            </a:pPr>
            <a:r>
              <a:t>• 研发到数据到报告自动流</a:t>
            </a:r>
          </a:p>
          <a:p>
            <a:pPr>
              <a:spcAft>
                <a:spcPts val="600"/>
              </a:spcAft>
              <a:defRPr/>
            </a:pPr>
            <a:r>
              <a:t>🎯 目标：</a:t>
            </a:r>
          </a:p>
          <a:p>
            <a:pPr>
              <a:spcAft>
                <a:spcPts val="600"/>
              </a:spcAft>
              <a:defRPr/>
            </a:pPr>
            <a:r>
              <a:t>• 全自动驾驶模式</a:t>
            </a:r>
          </a:p>
          <a:p>
            <a:pPr>
              <a:spcAft>
                <a:spcPts val="600"/>
              </a:spcAft>
              <a:defRPr/>
            </a:pPr>
            <a:r>
              <a:t>• 系统自我修复</a:t>
            </a:r>
          </a:p>
          <a:p>
            <a:pPr>
              <a:spcAft>
                <a:spcPts val="600"/>
              </a:spcAft>
              <a:defRPr/>
            </a:pPr>
            <a:r>
              <a:t>• 研发效率 10 倍提升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14 | 我们的角色转变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从“写代码的人”变成“管理代码 AI 的人”</a:t>
            </a:r>
          </a:p>
          <a:p>
            <a:pPr>
              <a:spcAft>
                <a:spcPts val="600"/>
              </a:spcAft>
              <a:defRPr/>
            </a:pPr>
            <a:r>
              <a:t>📝 以前：我们一行行写代码，我们是瓶颈</a:t>
            </a:r>
          </a:p>
          <a:p>
            <a:pPr>
              <a:spcAft>
                <a:spcPts val="600"/>
              </a:spcAft>
              <a:defRPr/>
            </a:pPr>
            <a:r>
              <a:t>🤖 现在：我们写规则、写约束、写验证脚本</a:t>
            </a:r>
          </a:p>
          <a:p>
            <a:pPr>
              <a:spcAft>
                <a:spcPts val="600"/>
              </a:spcAft>
              <a:defRPr/>
            </a:pPr>
            <a:r>
              <a:t>🔍 以前：审查结果</a:t>
            </a:r>
          </a:p>
          <a:p>
            <a:pPr>
              <a:spcAft>
                <a:spcPts val="600"/>
              </a:spcAft>
              <a:defRPr/>
            </a:pPr>
            <a:r>
              <a:t>🛡️ 现在：审查过程</a:t>
            </a:r>
          </a:p>
          <a:p>
            <a:pPr>
              <a:spcAft>
                <a:spcPts val="600"/>
              </a:spcAft>
              <a:defRPr/>
            </a:pPr>
            <a:r>
              <a:t>🦸 以前：个人英雄主义</a:t>
            </a:r>
          </a:p>
          <a:p>
            <a:pPr>
              <a:spcAft>
                <a:spcPts val="600"/>
              </a:spcAft>
              <a:defRPr/>
            </a:pPr>
            <a:r>
              <a:t>🏗️ 现在：Harness 工程师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15 | 💡 实战避坑与最佳实践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1. 📏 保持 Prompt 极简：让 Agent 专注单一任务，不要塞太多上下文</a:t>
            </a:r>
          </a:p>
          <a:p>
            <a:pPr>
              <a:spcAft>
                <a:spcPts val="600"/>
              </a:spcAft>
              <a:defRPr/>
            </a:pPr>
            <a:r>
              <a:t>2. 🛡️ 验证脚本先行：写代码前先写验证脚本，再让 AI 生成代码</a:t>
            </a:r>
          </a:p>
          <a:p>
            <a:pPr>
              <a:spcAft>
                <a:spcPts val="600"/>
              </a:spcAft>
              <a:defRPr/>
            </a:pPr>
            <a:r>
              <a:t>3. 📦 模块化输出：AI 的输出必须是结构化数据 (JSON/YAML)，方便下游调用</a:t>
            </a:r>
          </a:p>
          <a:p>
            <a:pPr>
              <a:spcAft>
                <a:spcPts val="600"/>
              </a:spcAft>
              <a:defRPr/>
            </a:pPr>
            <a:r>
              <a:t>4. 🔄 小步快跑：每次只让 Agent 做一个小改动，验证通过再继续</a:t>
            </a:r>
          </a:p>
          <a:p>
            <a:pPr>
              <a:spcAft>
                <a:spcPts val="600"/>
              </a:spcAft>
              <a:defRPr/>
            </a:pPr>
            <a:r>
              <a:t>5. 📖 记录错题本：每一次失败都是系统进化的机会，务必记录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Q &amp; 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/>
            </a:pPr>
            <a:r>
              <a:t>架构已就绪，随时开干！</a:t>
            </a:r>
            <a:br/>
            <a:r>
              <a:t>让我们用 AI 重新定义研发效率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