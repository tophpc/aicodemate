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AI Agent 团队架构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Harness Engineering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内部技术培训 | 从跟 AI 聊天到管理工业级智能团队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01 | 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>
            <p:custDataLst>
              <p:tags r:id="rId1"/>
            </p:custDataLst>
          </p:nvPr>
        </p:nvSpPr>
        <p:spPr>
          <a:xfrm>
            <a:off x="1371600" y="214884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2148840" y="210312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AI 工程演进：从 Prompt 到 Harness</a:t>
            </a:r>
          </a:p>
        </p:txBody>
      </p:sp>
      <p:sp>
        <p:nvSpPr>
          <p:cNvPr id="7" name="Oval 6"/>
          <p:cNvSpPr/>
          <p:nvPr>
            <p:custDataLst>
              <p:tags r:id="rId3"/>
            </p:custDataLst>
          </p:nvPr>
        </p:nvSpPr>
        <p:spPr>
          <a:xfrm>
            <a:off x="1371600" y="2926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2148840" y="288036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Harness 架构：解决什么问题 &amp; 核心优势</a:t>
            </a:r>
          </a:p>
        </p:txBody>
      </p:sp>
      <p:sp>
        <p:nvSpPr>
          <p:cNvPr id="10" name="Oval 9"/>
          <p:cNvSpPr/>
          <p:nvPr>
            <p:custDataLst>
              <p:tags r:id="rId5"/>
            </p:custDataLst>
          </p:nvPr>
        </p:nvSpPr>
        <p:spPr>
          <a:xfrm>
            <a:off x="1371600" y="3703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2148840" y="365760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1+5 架构全景图 (分层协作模型)</a:t>
            </a:r>
          </a:p>
        </p:txBody>
      </p:sp>
      <p:sp>
        <p:nvSpPr>
          <p:cNvPr id="13" name="Oval 12"/>
          <p:cNvSpPr/>
          <p:nvPr>
            <p:custDataLst>
              <p:tags r:id="rId7"/>
            </p:custDataLst>
          </p:nvPr>
        </p:nvSpPr>
        <p:spPr>
          <a:xfrm>
            <a:off x="1371600" y="44805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148840" y="443484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三大核心机制：验证、约束、进化</a:t>
            </a:r>
          </a:p>
        </p:txBody>
      </p:sp>
      <p:sp>
        <p:nvSpPr>
          <p:cNvPr id="16" name="Oval 15"/>
          <p:cNvSpPr/>
          <p:nvPr>
            <p:custDataLst>
              <p:tags r:id="rId9"/>
            </p:custDataLst>
          </p:nvPr>
        </p:nvSpPr>
        <p:spPr>
          <a:xfrm>
            <a:off x="1371600" y="525780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" name="组合 18"/>
          <p:cNvGrpSpPr/>
          <p:nvPr>
            <p:custDataLst>
              <p:tags r:id="rId10"/>
            </p:custDataLst>
          </p:nvPr>
        </p:nvGrpSpPr>
        <p:grpSpPr>
          <a:xfrm>
            <a:off x="1371600" y="2230755"/>
            <a:ext cx="548640" cy="3657600"/>
            <a:chOff x="2160" y="3384"/>
            <a:chExt cx="864" cy="5760"/>
          </a:xfrm>
        </p:grpSpPr>
        <p:sp>
          <p:nvSpPr>
            <p:cNvPr id="5" name="TextBox 4"/>
            <p:cNvSpPr txBox="1"/>
            <p:nvPr>
              <p:custDataLst>
                <p:tags r:id="rId11"/>
              </p:custDataLst>
            </p:nvPr>
          </p:nvSpPr>
          <p:spPr>
            <a:xfrm>
              <a:off x="2160" y="3384"/>
              <a:ext cx="864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0B1120"/>
                  </a:solidFill>
                  <a:latin typeface="微软雅黑" panose="020B0503020204020204" charset="-122"/>
                </a:defRPr>
              </a:pPr>
              <a:r>
                <a:t>01</a:t>
              </a:r>
            </a:p>
          </p:txBody>
        </p:sp>
        <p:sp>
          <p:nvSpPr>
            <p:cNvPr id="8" name="TextBox 7"/>
            <p:cNvSpPr txBox="1"/>
            <p:nvPr>
              <p:custDataLst>
                <p:tags r:id="rId12"/>
              </p:custDataLst>
            </p:nvPr>
          </p:nvSpPr>
          <p:spPr>
            <a:xfrm>
              <a:off x="2160" y="4608"/>
              <a:ext cx="864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0B1120"/>
                  </a:solidFill>
                  <a:latin typeface="微软雅黑" panose="020B0503020204020204" charset="-122"/>
                </a:defRPr>
              </a:pPr>
              <a:r>
                <a:t>02</a:t>
              </a:r>
            </a:p>
          </p:txBody>
        </p:sp>
        <p:sp>
          <p:nvSpPr>
            <p:cNvPr id="11" name="TextBox 10"/>
            <p:cNvSpPr txBox="1"/>
            <p:nvPr>
              <p:custDataLst>
                <p:tags r:id="rId13"/>
              </p:custDataLst>
            </p:nvPr>
          </p:nvSpPr>
          <p:spPr>
            <a:xfrm>
              <a:off x="2160" y="5832"/>
              <a:ext cx="864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0B1120"/>
                  </a:solidFill>
                  <a:latin typeface="微软雅黑" panose="020B0503020204020204" charset="-122"/>
                </a:defRPr>
              </a:pPr>
              <a:r>
                <a:t>03</a:t>
              </a:r>
            </a:p>
          </p:txBody>
        </p:sp>
        <p:sp>
          <p:nvSpPr>
            <p:cNvPr id="14" name="TextBox 13"/>
            <p:cNvSpPr txBox="1"/>
            <p:nvPr>
              <p:custDataLst>
                <p:tags r:id="rId14"/>
              </p:custDataLst>
            </p:nvPr>
          </p:nvSpPr>
          <p:spPr>
            <a:xfrm>
              <a:off x="2160" y="7056"/>
              <a:ext cx="864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0B1120"/>
                  </a:solidFill>
                  <a:latin typeface="微软雅黑" panose="020B0503020204020204" charset="-122"/>
                </a:defRPr>
              </a:pPr>
              <a:r>
                <a:t>04</a:t>
              </a:r>
            </a:p>
          </p:txBody>
        </p:sp>
        <p:sp>
          <p:nvSpPr>
            <p:cNvPr id="17" name="TextBox 16"/>
            <p:cNvSpPr txBox="1"/>
            <p:nvPr>
              <p:custDataLst>
                <p:tags r:id="rId15"/>
              </p:custDataLst>
            </p:nvPr>
          </p:nvSpPr>
          <p:spPr>
            <a:xfrm>
              <a:off x="2160" y="8280"/>
              <a:ext cx="864" cy="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0B1120"/>
                  </a:solidFill>
                  <a:latin typeface="微软雅黑" panose="020B0503020204020204" charset="-122"/>
                </a:defRPr>
              </a:pPr>
              <a:r>
                <a:t>05</a:t>
              </a:r>
            </a:p>
          </p:txBody>
        </p:sp>
      </p:grpSp>
      <p:sp>
        <p:nvSpPr>
          <p:cNvPr id="18" name="TextBox 17"/>
          <p:cNvSpPr txBox="1"/>
          <p:nvPr>
            <p:custDataLst>
              <p:tags r:id="rId16"/>
            </p:custDataLst>
          </p:nvPr>
        </p:nvSpPr>
        <p:spPr>
          <a:xfrm>
            <a:off x="2148840" y="521208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实施路线图 &amp; 角色转变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02 | AI 工程演进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为什么 Harness 是 10 倍效率的关键？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Prompt 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核心: Prompt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痛点: 结果不稳定，无法扩展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典型：帮我写个函数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2860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Context 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核心: Context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痛点: 依然脆弱，难以维护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典型：参考这些文件写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28600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Harness 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核心: Harness 工程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痛点: 解法：约束、反馈、自动化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典型：Agent，按规则干活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669280"/>
            <a:ext cx="9448495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比喻：模型是 CPU，Harness 是操作系统。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03 | 痛点 vs 解法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4114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411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AI 不可控：经常脑补成功，交付结果不可靠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效率低下：人工反复确认，验证成本太高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知识孤岛：每次对话重新开始，经验不沉淀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扩展困难：增加功能需要重写所有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389120" cy="4114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73152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确定性验证：代码级检查，不凭感觉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自动化流转：主调度 + 5 专家，各司其职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仓库即大脑：Repo 是唯一的知识来源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持续进化：一人踩坑，全员免疫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04 | Harness 架构：从聊天到工业级控制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真实案例：老板说 帮我看看最近的销售数据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389120" cy="2011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老板手动发 Excel 文件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老板手动复制结果到飞书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老板自己核对数据准确性</a:t>
            </a:r>
          </a:p>
          <a:p>
            <a:pPr>
              <a:spcAft>
                <a:spcPts val="450"/>
              </a:spcAft>
              <a:defRPr sz="15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结果：AI 经常脑补成功，数据可能出错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4389120" cy="21031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480560"/>
            <a:ext cx="73152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49377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Main 自动识别 -&gt; 路由给 Dataprocess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Dataprocess 读取 Excel + Schema 验证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运行 verify_schema.py 自动校验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Main 签收 -&gt; 自动推送飞书日报</a:t>
            </a:r>
          </a:p>
          <a:p>
            <a:pPr>
              <a:spcAft>
                <a:spcPts val="420"/>
              </a:spcAft>
              <a:defRPr sz="14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零人工干预，100% 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数据流向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346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老板指令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79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飞书/语音输入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229600" y="3383280"/>
            <a:ext cx="365760" cy="1371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5204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Main 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意图识别 -&gt; 路由分发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229600" y="4069080"/>
            <a:ext cx="365760" cy="13716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42062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5 专家并行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9" y="4251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各司其职执行任务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229600" y="4754880"/>
            <a:ext cx="365760" cy="13716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8920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验证层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79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Schema + verify_schema.py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229600" y="5440680"/>
            <a:ext cx="365760" cy="1371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55778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结果交付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79" y="5623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飞书/JSON/PPT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05 | 架构全景图：1+5 分层协作模型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09728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745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Main 总调度中心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20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意图识别 -&gt; 任务拆解 -&gt; 路由分派 -&gt; 验证签收 -&gt; 最终交付</a:t>
            </a:r>
          </a:p>
          <a:p>
            <a:pPr>
              <a:spcAft>
                <a:spcPts val="420"/>
              </a:spcAft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接收老板指令，智能分发任务给对应专家，最终验证签收后交付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926080"/>
            <a:ext cx="457200" cy="27432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日程/邮件/杂活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08026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架构/走读/审查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95478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日报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Daily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资讯/简报/日报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2930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9516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深挖/调研/方案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70382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Dataprocess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报表/数据/建模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57834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71600" y="5303520"/>
            <a:ext cx="9448495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303520"/>
            <a:ext cx="9448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验证层 | 硬约束 Schema 拦截 | 无验证不交付 | 错题本持续进化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06 | 角色职责矩阵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301752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微软雅黑" panose="020B0503020204020204" charset="-122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核心职责 (Do's)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微软雅黑" panose="020B0503020204020204" charset="-122"/>
                        </a:defRPr>
                      </a:pPr>
                      <a:r>
                        <a:t>绝对禁忌 (Don'ts)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Assistant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日程管理、邮件处理、日常杂活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深度技术、复杂数据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Code Review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架构建议、代码走读思路、审查策略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写生产代码、陷入细节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Daily Report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每日 AI/技术资讯抓取、简报生成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深度调研、处理私人数据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Research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垂直领域深挖 (POCT/嵌入式/Android)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 Excel、写业务代码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Dataprocess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报表生成、数据库建模、数据清洗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写业务代码、无验证交付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07 | 核心机制一：验证优先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Iron Rule: 无代码验证，绝不交付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6517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执行任务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Agent 执行具体操作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144000" y="27432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342900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运行脚本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运行 verify_file.sh / schema.py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44000" y="352044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4206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获取证据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拿到 JSON: status=success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144000" y="4297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4983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交付结果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带着证据链汇报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08 | 核心机制二：硬约束 &gt; 软指令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Application Legibility: 让数据对 Agent 可读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389120" cy="22860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Prompt: 请注意格式正确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结果：Agent 经常忽略或幻觉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问题：LLM 天生发散，不擅长守规矩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4389120" cy="22860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Schema: schemas/report_output.json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工具: verify_schema.py 自动拦截</a:t>
            </a:r>
          </a:p>
          <a:p>
            <a:pPr>
              <a:spcAft>
                <a:spcPts val="510"/>
              </a:spcAft>
              <a:defRPr sz="17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结果：不合规直接打回，无法蒙混过关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09 | 核心机制三：错题本与进化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每当 Agent 犯错，就工程化一个解决方案，让它再也不会犯同样的错。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8991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-- Mitchell Hashimoto (Terraform 创始人)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任务失败或被老板指出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32004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写入 LESSONS_LEARNED.md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3200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全员启动时必读此文件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3200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系统长记性，越用越强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10 | 标准工作流 (SOP)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23774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老板下达指令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意图 &amp; 目标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32004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0" y="237744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Main 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路由 &amp; 分派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29200" y="3200400"/>
            <a:ext cx="18288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0" y="237744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专家执行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干活 + 自检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49440" y="3200400"/>
            <a:ext cx="18288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Main 签收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验证证据链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69680" y="3200400"/>
            <a:ext cx="1828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120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飞书交付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结果推送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11 | 场景：数据处理实战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Excel/PDF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926080"/>
            <a:ext cx="4572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处理 &amp;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Schema Check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15200" y="2926080"/>
            <a:ext cx="45720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标准 JSON/Excel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9448495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66344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核心价值：产出的数据不仅是给人看的，更是给其他 Agent 用的。机器可读，无缝流转。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12 | 场景：代码走读与审查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它不写生产代码，它只出主意。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关注点：逻辑闭环、架构风险、扩展性、团队规范。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典型任务：10 万行遗留代码怎么 Review？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38912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73152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评审清单 (Checklist)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架构改进建议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SonarQube 扫描策略</a:t>
            </a:r>
          </a:p>
          <a:p>
            <a:pPr>
              <a:spcAft>
                <a:spcPts val="540"/>
              </a:spcAft>
              <a:defRPr sz="18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技术债务优先级排序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13 | 实施路线图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已落地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5 大专家 Agent 上线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验证优先机制落地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Harness 规则库建立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73152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进行中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跨 Agent 自动化协作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研发到数据到报告自动流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定制化个人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828800"/>
            <a:ext cx="73152" cy="32004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全自动驾驶模式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系统自我修复</a:t>
            </a:r>
          </a:p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研发效率 10 倍提升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14 | 我们的角色转变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从写代码的人变成管理代码 AI 的人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以前：我们一行行写代码，我们是瓶颈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697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现在：我们写规则、写约束、写验证脚本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747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11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以前：审查结果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现在：审查过程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以前：个人英雄主义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现在：Harness 工程师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让我们用 AI 重新定义研发效率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F0FF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架构已就绪，随时开干！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2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3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4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5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6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7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8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9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10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11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12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13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14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15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ags/tag16.xml><?xml version="1.0" encoding="utf-8"?>
<p:tagLst xmlns:p="http://schemas.openxmlformats.org/presentationml/2006/main">
  <p:tag name="KSO_WM_DIAGRAM_VIRTUALLY_FRAME" val="{&quot;height&quot;:291.6,&quot;left&quot;:108,&quot;top&quot;:165.6,&quot;width&quot;:743.97598425196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WPS 演示</Application>
  <PresentationFormat>On-screen Show (4:3)</PresentationFormat>
  <Paragraphs>336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HUAWEI</cp:lastModifiedBy>
  <cp:revision>3</cp:revision>
  <dcterms:created xsi:type="dcterms:W3CDTF">2013-01-27T09:14:00Z</dcterms:created>
  <dcterms:modified xsi:type="dcterms:W3CDTF">2026-04-15T03:16:03Z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1EAA0EC0DE794284A64AA3FE74082782_13</vt:lpwstr>
  </property>
  <property fmtid="{D5CDD505-2E9C-101B-9397-08002B2CF9AE}" pid="3" name="KSOProductBuildVer">
    <vt:lpwstr>2052-12.1.0.25225</vt:lpwstr>
  </property>
</Properties>
</file>