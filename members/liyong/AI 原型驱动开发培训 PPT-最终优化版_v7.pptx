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【演讲备注 - 游戏比喻】</a:t>
            </a:r>
          </a:p>
          <a:p>
            <a:r>
              <a:t>（此处建议配合动画使用，效果更佳）</a:t>
            </a:r>
          </a:p>
          <a:p/>
          <a:p>
            <a:r>
              <a:t>1. Prompt Engineering (2023): 就像玩《只狼》（动作游戏）。</a:t>
            </a:r>
          </a:p>
          <a:p>
            <a:r>
              <a:t>   每一招都得亲自按键，AI 动一下你回一下，全靠手速和微操。那时候模型笨，你不按对键它就死给你看。</a:t>
            </a:r>
          </a:p>
          <a:p/>
          <a:p>
            <a:r>
              <a:t>2. Context Engineering (2025): 就像玩《金铲铲》（自走棋）。</a:t>
            </a:r>
          </a:p>
          <a:p>
            <a:r>
              <a:t>   前期把英雄装备配好（喂够上下文/RAG），后面就自动跑。你虽然不微操了，但一旦遇到复杂局势，棋子容易乱打。</a:t>
            </a:r>
          </a:p>
          <a:p/>
          <a:p>
            <a:r>
              <a:t>3. Harness Engineering (2026-现在): 就像玩《全面战争》（即时战略）。</a:t>
            </a:r>
          </a:p>
          <a:p>
            <a:r>
              <a:t>   场上几千个单位（Agent）在跑，你根本管不过来每一个兵。你只能靠编队、阵型、规则去驾驭整盘战局。</a:t>
            </a:r>
          </a:p>
          <a:p>
            <a:r>
              <a:t>   单位越聪明自主，你越得靠这套系统去约束！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27432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AI Agent 团队架构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Harness Engineering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内部技术培训 | 从跟 AI 聊天到管理工业级智能团队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01 | 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148840"/>
            <a:ext cx="548640" cy="5486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210312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AI 工程演进：从 Prompt 到 Harness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926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88036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Harness 架构：解决什么问题 &amp; 核心优势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703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65760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1+5 架构全景图 (分层协作模型)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4805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43484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三大核心机制：验证、约束、进化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25780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257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212080"/>
            <a:ext cx="8671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实施路线图 &amp; 角色转变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02 | AI 工程演进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为什么 Harness 是 10 倍效率的关键？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Prompt 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核心: Prompt 工程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痛点: 结果不稳定，无法扩展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典型：帮我写个函数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22860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Context 工程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核心: Context 工程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痛点: 依然脆弱，难以维护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典型：参考这些文件写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286000"/>
            <a:ext cx="292608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28600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Harness 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核心: Harness 工程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痛点: 解法：约束、反馈、自动化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5720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典型：Agent，按规则干活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669280"/>
            <a:ext cx="9448495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比喻：模型是 CPU，Harness 是操作系统。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03 | 痛点 vs 解法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389120" cy="4114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411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AI 不可控：经常脑补成功，交付结果不可靠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效率低下：人工反复确认，验证成本太高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知识孤岛：每次对话重新开始，经验不沉淀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扩展困难：增加功能需要重写所有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389120" cy="4114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73152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确定性验证：代码级检查，不凭感觉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自动化流转：主调度 + 5 专家，各司其职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仓库即大脑：Repo 是唯一的知识来源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持续进化：一人踩坑，全员免疫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04 | Harness 架构：从聊天到工业级控制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真实案例：老板说 帮我看看最近的销售数据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389120" cy="201168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老板手动发 Excel 文件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老板手动复制结果到飞书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老板自己核对数据准确性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结果：AI 经常脑补成功，数据可能出错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4389120" cy="210312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480560"/>
            <a:ext cx="73152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49377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Main 自动识别 -&gt; 路由给 Dataprocess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Dataprocess 读取 Excel + Schema 验证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运行 verify_schema.py 自动校验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Main 签收 -&gt; 自动推送飞书日报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零人工干预，100% 可追溯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数据流向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8346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3B82F6"/>
                </a:solidFill>
                <a:latin typeface="Microsoft YaHei"/>
              </a:defRPr>
            </a:pPr>
            <a:r>
              <a:t>老板指令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79" y="2880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飞书/语音输入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229600" y="3383280"/>
            <a:ext cx="365760" cy="13716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5204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Main 调度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79" y="3566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意图识别 -&gt; 路由分发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229600" y="4069080"/>
            <a:ext cx="365760" cy="13716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42062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5 专家并行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9" y="42519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各司其职执行任务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229600" y="4754880"/>
            <a:ext cx="365760" cy="13716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48920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验证层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79" y="4937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Schema + verify_schema.py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229600" y="5440680"/>
            <a:ext cx="365760" cy="1371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5577840"/>
            <a:ext cx="4114800" cy="5486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结果交付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79" y="5623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飞书/JSON/PPT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05 | 架构全景图：1+5 分层协作模型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109728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7451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Main 总调度中心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20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意图识别 -&gt; 任务拆解 -&gt; 路由分派 -&gt; 验证签收 -&gt; 最终交付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接收老板指令，智能分发任务给对应专家，最终验证签收后交付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926080"/>
            <a:ext cx="457200" cy="274320"/>
          </a:xfrm>
          <a:prstGeom prst="down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日程/邮件/杂活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08026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Code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架构/走读/审查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95478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日报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Daily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资讯/简报/日报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2930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9516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深挖/调研/方案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70382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0" y="3291840"/>
            <a:ext cx="1691640" cy="16459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3429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93192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Dataprocess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3434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报表/数据/建模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9578340" y="4937760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71600" y="5303520"/>
            <a:ext cx="9448495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303520"/>
            <a:ext cx="9448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验证层 | 硬约束 Schema 拦截 | 无验证不交付 | 错题本持续进化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06 | 角色职责矩阵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418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3017520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Microsoft YaHe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Microsoft YaHei"/>
                        </a:defRPr>
                      </a:pPr>
                      <a:r>
                        <a:t>核心职责 (Do's)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0FF"/>
                          </a:solidFill>
                          <a:latin typeface="Microsoft YaHei"/>
                        </a:defRPr>
                      </a:pPr>
                      <a:r>
                        <a:t>绝对禁忌 (Don'ts)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Assistant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日程管理、邮件处理、日常杂活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深度技术、复杂数据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Code Review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架构建议、代码走读思路、审查策略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写生产代码、陷入细节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Daily Report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每日 AI/技术资讯抓取、简报生成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深度调研、处理私人数据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Research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垂直领域深挖 (POCT/嵌入式/Android)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处理 Excel、写业务代码</a:t>
                      </a:r>
                    </a:p>
                  </a:txBody>
                  <a:tcPr>
                    <a:solidFill>
                      <a:srgbClr val="12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Dataprocess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报表生成、数据库建模、数据清洗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写业务代码、无验证交付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07 | 核心机制一：验证优先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Iron Rule: 无代码验证，绝不交付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6517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执行任务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Agent 执行具体操作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144000" y="274320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3429000"/>
            <a:ext cx="548640" cy="54864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429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运行脚本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运行 verify_file.sh / schema.py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44000" y="352044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42062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114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获取证据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拿到 JSON: status=success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144000" y="4297680"/>
            <a:ext cx="4572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71600" y="4983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983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交付结果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92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带着证据链汇报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08 | 核心机制二：硬约束 &gt; 软指令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Application Legibility: 让数据对 Agent 可读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4389120" cy="22860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Prompt: 请注意格式正确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结果：Agent 经常忽略或幻觉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问题：LLM 天生发散，不擅长守规矩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4389120" cy="22860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Schema: schemas/report_output.json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工具: verify_schema.py 自动拦截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结果：不合规直接打回，无法蒙混过关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09 | 核心机制三：错题本与进化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991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每当 Agent 犯错，就工程化一个解决方案，让它再也不会犯同样的错。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8991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-- Mitchell Hashimoto (Terraform 创始人)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32004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任务失败或被老板指出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32004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写入 LESSONS_LEARNED.md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3200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全员启动时必读此文件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200400"/>
            <a:ext cx="2103120" cy="18288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32004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8404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系统长记性，越用越强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10 | 标准工作流 (SOP)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23774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老板下达指令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意图 &amp; 目标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3200400"/>
            <a:ext cx="18288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0" y="237744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Main 调度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路由 &amp; 分派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29200" y="3200400"/>
            <a:ext cx="18288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0" y="237744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专家执行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干活 + 自检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949440" y="3200400"/>
            <a:ext cx="18288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0" y="2377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Main 签收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验证证据链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69680" y="3200400"/>
            <a:ext cx="1828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0" y="2286000"/>
            <a:ext cx="1737360" cy="22860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2640" y="23774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B112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017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飞书交付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5661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结果推送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11 | 场景：数据处理实战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3B82F6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Excel/PDF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926080"/>
            <a:ext cx="457200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处理 &amp;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Schema Check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15200" y="2926080"/>
            <a:ext cx="45720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2286000"/>
            <a:ext cx="2743200" cy="1828800"/>
          </a:xfrm>
          <a:prstGeom prst="roundRect">
            <a:avLst/>
          </a:prstGeom>
          <a:solidFill>
            <a:srgbClr val="16203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标准 JSON/Excel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72000"/>
            <a:ext cx="9448495" cy="10972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66344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核心价值：产出的数据不仅是给人看的，更是给其他 Agent 用的。机器可读，无缝流转。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12 | 场景：代码走读与审查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38912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3657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它不写生产代码，它只出主意。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关注点：逻辑闭环、架构风险、扩展性、团队规范。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典型任务：10 万行遗留代码怎么 Review？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389120" cy="36576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73152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评审清单 (Checklist)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架构改进建议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SonarQube 扫描策略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技术债务优先级排序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13 | 实施路线图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73152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已落地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5 大专家 Agent 上线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验证优先机制落地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Harness 规则库建立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828800"/>
            <a:ext cx="73152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进行中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跨 Agent 自动化协作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研发到数据到报告自动流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定制化个人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828800"/>
            <a:ext cx="2834640" cy="320040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828800"/>
            <a:ext cx="73152" cy="32004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全自动驾驶模式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系统自我修复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研发效率 10 倍提升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14 | 我们的角色转变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17320"/>
            <a:ext cx="9448495" cy="25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从写代码的人变成管理代码 AI 的人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以前：我们一行行写代码，我们是瓶颈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697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现在：我们写规则、写约束、写验证脚本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747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11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以前：审查结果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611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现在：审查过程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3891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526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以前：个人英雄主义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4389120" cy="7315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526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现在：Harness 工程师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2743200" cy="50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让我们用 AI 重新定义研发效率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00F0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架构已就绪，随时开干！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AI Agent 团队架构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Harness Engineering in Action</a:t>
            </a:r>
            <a:br/>
            <a:r>
              <a:t>从跟 AI 聊天到管理工业级智能团队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01 |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🚀 AI 工程演进：从 Prompt 到 Harness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🏗️ Harness 架构：解决什么问题 &amp; 核心优势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👥 1+5 架构全景图 (分层协作模型)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⚙️ 三大核心机制：验证、约束、进化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🗺️ 实施路线图 &amp; 角色转变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💡 实战避坑与最佳实践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02 | AI 工程演进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📉 传统开发模式</a:t>
            </a:r>
            <a:br/>
            <a:r>
              <a:t>• Prompt 工程：写个函数</a:t>
            </a:r>
            <a:br/>
            <a:r>
              <a:t>• Context 工程：参考文件写</a:t>
            </a:r>
            <a:br/>
            <a:r>
              <a:t>• 痛点：结果不稳定，不可扩展</a:t>
            </a:r>
            <a:br/>
            <a:r>
              <a:t>• 瓶颈：人是唯一的控制器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📈 Harness 工程</a:t>
            </a:r>
            <a:br/>
            <a:r>
              <a:t>• 核心：约束 + 反馈 + 自动</a:t>
            </a:r>
            <a:br/>
            <a:r>
              <a:t>• 典型：Agent 按规则干活</a:t>
            </a:r>
            <a:br/>
            <a:r>
              <a:t>• 解法：工程化控制</a:t>
            </a:r>
            <a:br/>
            <a:r>
              <a:t>• 比喻：模型是 CPU，Harness 是操作系统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03 | 痛点 vs 解法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❌ 痛点：AI 不可控</a:t>
            </a:r>
            <a:br/>
            <a:r>
              <a:t>• 经常脑补，交付结果不可靠</a:t>
            </a:r>
            <a:br/>
            <a:r>
              <a:t>• 效率低下：人工反复修改</a:t>
            </a:r>
            <a:br/>
            <a:r>
              <a:t>• 无法规模化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✅ 解法：工业级 Harness</a:t>
            </a:r>
            <a:br/>
            <a:r>
              <a:t>• 确定性验证：代码级检查</a:t>
            </a:r>
            <a:br/>
            <a:r>
              <a:t>• 自动化流转：主调度 + 5 专家</a:t>
            </a:r>
            <a:br/>
            <a:r>
              <a:t>• 结果：稳定、可预期、高效率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04 | 真实案例：老板的指令去哪了？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1. 📥 输入：老板在飞书/语音说“帮我看看最近销售数据”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2. 🧠 意图识别：Main 自动识别需求，路由给 Dataprocess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3. 🏃 执行：DataAgent 跑脚本、查库、生成图表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4. 🛡️ 验证：运行 verify_schema.py，检查数据格式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5. 📤 交付：自动推送 JSON/PPT 到飞书，老板直接看结果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05 | 架构全景图：1+5 分层协作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🎯 Main (总调度中心): 意图识别 -&gt; 任务拆解 -&gt; 路由分派 -&gt; 验证签收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📅 Assistant: 日程 / 邮件 / 杂活自动化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🔍 Code Review: 架构走读 / 代码审查 / 风险拦截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📰 Daily Report: 资讯简报 / 自动日报 / 飞书推送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📚 Research: 深挖调研 / 方案设计 / 竞品分析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📊 Dataprocess: 报表生成 / 数据建模 / 格式转换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🛡️ 验证层 (铁律): 硬约束 Schema 拦截 | 无验证不交付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06 | 角色职责矩阵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• Main Orchestrator: 指挥官。不写代码，只负责调度与质量把控。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• Assistant: 贴身秘书。处理琐碎事务，释放开发者精力。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• Code Review: 质量门禁。专注架构合理性与潜在风险，不碰业务逻辑。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• Research: 军师。负责前沿技术调研，提供方案选型建议。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• Dataprocess: 数据工匠。处理 Excel/PDF/JSON 转换与建模。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• Daily Report: 播报员。每日定时汇总，保持信息同步。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07 | 核心机制一：验证优先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⚡ Iron Rule: 无代码验证，绝不交付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1. 执行任务：Agent 生成代码/数据/文档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2. 运行脚本：调用 verify_schema.py 或 shell 脚本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3. 获取证据：拿到 JSON 结果 {status: 'success', data: ...}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4. 交付结果：带着证据链向 Main 汇报，Main 签收后交付用户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08 | 核心机制二：硬约束 &gt; 软指令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🚫 软指令 (Prompt):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“请注意格式正确” -&gt; 结果：Agent 经常忽略或脑补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🛡️ 硬约束 (Schema/Code):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`schemas/report_output.json` -&gt; 强制校验字段类型、长度、必填项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校验失败？直接打回重做，不凭感觉判断对错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💡 Application Legibility: 让数据对 AI 可读，而非对人可读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09 | 核心机制三：错题本与进化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“每当 Agent 犯错，就工程化一个解决方案，让它再也不会犯同样的错。”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1. 🚨 任务失败 / 老板指出错误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2. 📝 写入 LESSONS_LEARNED.md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3. 🔄 全员启动时必读此文件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4. 🧠 系统长记性，越用越强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🌟 进化不是靠训练，而是靠工程化约束与反馈循环。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10 | 标准工作流 (SOP)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1️⃣ 老板下达指令 -&gt; 明确意图与目标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2️⃣ Main 调度 -&gt; 路由与分派给对应专家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3️⃣ 专家执行 -&gt; 干活 + 运行验证脚本自检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4️⃣ Main 签收 -&gt; 检查证据链，不合格直接打回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5️⃣ 飞书交付 -&gt; 结果推送到指定频道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🔁 循环：如果失败，触发“错题本”机制，更新约束后重试。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11 | 场景实战：数据处理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📥 输入：老板发来杂乱的 Excel / PDF / 截图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⚙️ 处理 &amp; 验证：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DataAgent 提取 -&gt; 清洗 -&gt; 转换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运行 Schema Check 确保字段完整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📤 输出：标准 JSON / Excel / PPT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💎 核心价值：产出的数据不仅是给人看的，更是给其他 Agent 调用的！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12 | 场景实战：代码走读与审查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👀 它不写生产代码，它只出主意。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🎯 关注点：逻辑闭环、架构风险、扩展性、安全漏洞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📋 评审清单 (Checklist):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是否符合架构规范？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是否有潜在的死锁/内存泄漏？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日志与异常处理是否完善？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SonarQube 扫描结果复核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13 | 实施路线图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✅ 已落地：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5 大专家 Agent 上线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验证优先机制落地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Harness 调度跑通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🚧 进行中：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跨 Agent 自动化协作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研发到数据到报告自动流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🎯 目标：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全自动驾驶模式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系统自我修复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   • 研发效率 10 倍提升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14 | 我们的角色转变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从“写代码的人”变成“管理代码 AI 的人”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📝 以前：我们一行行写代码，我们是瓶颈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🤖 现在：我们写规则、写约束、写验证脚本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🔍 以前：审查结果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🛡️ 现在：审查过程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🦸 以前：个人英雄主义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🏗️ 现在：Harness 工程师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15 | 💡 实战避坑与最佳实践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1. 📏 保持 Prompt 极简：让 Agent 专注单一任务，不要塞太多上下文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2. 🛡️ 验证脚本先行：写代码前先写验证脚本，再让 AI 生成代码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3. 📦 模块化输出：AI 的输出必须是结构化数据 (JSON/YAML)，方便下游调用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4. 🔄 小步快跑：每次只让 Agent 做一个小改动，验证通过再继续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5. 📖 记录错题本：每一次失败都是系统进化的机会，务必记录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3200" b="1"/>
            </a:pPr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  <a:spcAft>
                <a:spcPts val="600"/>
              </a:spcAft>
              <a:defRPr sz="2000" b="1"/>
            </a:pPr>
            <a:r>
              <a:t>架构已就绪，随时开干！</a:t>
            </a:r>
            <a:br/>
            <a:r>
              <a:t>让我们用 AI 重新定义研发效率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